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et Bold" charset="1" panose="00000000000000000000"/>
      <p:regular r:id="rId21"/>
    </p:embeddedFont>
    <p:embeddedFont>
      <p:font typeface="Open Sans Bold" charset="1" panose="00000000000000000000"/>
      <p:regular r:id="rId22"/>
    </p:embeddedFont>
    <p:embeddedFont>
      <p:font typeface="Aptos Bold" charset="1" panose="020B0004020202020204"/>
      <p:regular r:id="rId23"/>
    </p:embeddedFont>
    <p:embeddedFont>
      <p:font typeface="Telegraf Bold" charset="1" panose="00000800000000000000"/>
      <p:regular r:id="rId24"/>
    </p:embeddedFont>
    <p:embeddedFont>
      <p:font typeface="League Spartan" charset="1" panose="00000800000000000000"/>
      <p:regular r:id="rId26"/>
    </p:embeddedFont>
    <p:embeddedFont>
      <p:font typeface="Canva Sans Bold" charset="1" panose="020B0803030501040103"/>
      <p:regular r:id="rId27"/>
    </p:embeddedFont>
    <p:embeddedFont>
      <p:font typeface="Aptos" charset="1" panose="020B0004020202020204"/>
      <p:regular r:id="rId29"/>
    </p:embeddedFont>
    <p:embeddedFont>
      <p:font typeface="Glacial Indifference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08" y="158094"/>
            <a:ext cx="11589553" cy="2161961"/>
            <a:chOff x="0" y="0"/>
            <a:chExt cx="14720620" cy="27460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20615" cy="2746026"/>
            </a:xfrm>
            <a:custGeom>
              <a:avLst/>
              <a:gdLst/>
              <a:ahLst/>
              <a:cxnLst/>
              <a:rect r="r" b="b" t="t" l="l"/>
              <a:pathLst>
                <a:path h="2746026" w="14720615">
                  <a:moveTo>
                    <a:pt x="0" y="0"/>
                  </a:moveTo>
                  <a:lnTo>
                    <a:pt x="14720615" y="0"/>
                  </a:lnTo>
                  <a:lnTo>
                    <a:pt x="14720615" y="2746026"/>
                  </a:lnTo>
                  <a:lnTo>
                    <a:pt x="0" y="2746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75" r="10481" b="-108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720620" cy="27460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44"/>
                </a:lnSpc>
              </a:pPr>
              <a:r>
                <a:rPr lang="en-US" sz="5703" b="true">
                  <a:solidFill>
                    <a:srgbClr val="0E2A47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Malware Family Classification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6072" y="2001214"/>
            <a:ext cx="10539626" cy="617703"/>
            <a:chOff x="0" y="0"/>
            <a:chExt cx="14052834" cy="8236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52835" cy="823599"/>
            </a:xfrm>
            <a:custGeom>
              <a:avLst/>
              <a:gdLst/>
              <a:ahLst/>
              <a:cxnLst/>
              <a:rect r="r" b="b" t="t" l="l"/>
              <a:pathLst>
                <a:path h="823599" w="14052835">
                  <a:moveTo>
                    <a:pt x="0" y="0"/>
                  </a:moveTo>
                  <a:lnTo>
                    <a:pt x="14052835" y="0"/>
                  </a:lnTo>
                  <a:lnTo>
                    <a:pt x="14052835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421" r="3623" b="-270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4052834" cy="823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42"/>
                </a:lnSpc>
              </a:pPr>
              <a:r>
                <a:rPr lang="en-US" sz="2952" b="true">
                  <a:solidFill>
                    <a:srgbClr val="1F4E79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Using an Image-to-Graph GCN on the MaleBin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39935" y="3166867"/>
            <a:ext cx="6437171" cy="647565"/>
            <a:chOff x="0" y="0"/>
            <a:chExt cx="5445921" cy="547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45960" cy="547809"/>
            </a:xfrm>
            <a:custGeom>
              <a:avLst/>
              <a:gdLst/>
              <a:ahLst/>
              <a:cxnLst/>
              <a:rect r="r" b="b" t="t" l="l"/>
              <a:pathLst>
                <a:path h="547809" w="5445960">
                  <a:moveTo>
                    <a:pt x="0" y="115333"/>
                  </a:moveTo>
                  <a:cubicBezTo>
                    <a:pt x="0" y="51635"/>
                    <a:pt x="82055" y="0"/>
                    <a:pt x="183281" y="0"/>
                  </a:cubicBezTo>
                  <a:lnTo>
                    <a:pt x="5262687" y="0"/>
                  </a:lnTo>
                  <a:cubicBezTo>
                    <a:pt x="5363913" y="0"/>
                    <a:pt x="5445960" y="51635"/>
                    <a:pt x="5445960" y="115333"/>
                  </a:cubicBezTo>
                  <a:lnTo>
                    <a:pt x="5445960" y="432476"/>
                  </a:lnTo>
                  <a:cubicBezTo>
                    <a:pt x="5445960" y="496175"/>
                    <a:pt x="5363913" y="547809"/>
                    <a:pt x="5262687" y="547809"/>
                  </a:cubicBezTo>
                  <a:lnTo>
                    <a:pt x="183281" y="547809"/>
                  </a:lnTo>
                  <a:cubicBezTo>
                    <a:pt x="82055" y="547809"/>
                    <a:pt x="0" y="496175"/>
                    <a:pt x="0" y="432476"/>
                  </a:cubicBezTo>
                  <a:close/>
                </a:path>
              </a:pathLst>
            </a:custGeom>
            <a:solidFill>
              <a:srgbClr val="3A7A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8443" y="3209592"/>
            <a:ext cx="8045280" cy="562115"/>
            <a:chOff x="0" y="0"/>
            <a:chExt cx="4191229" cy="2928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1226" cy="292837"/>
            </a:xfrm>
            <a:custGeom>
              <a:avLst/>
              <a:gdLst/>
              <a:ahLst/>
              <a:cxnLst/>
              <a:rect r="r" b="b" t="t" l="l"/>
              <a:pathLst>
                <a:path h="292837" w="4191226">
                  <a:moveTo>
                    <a:pt x="0" y="0"/>
                  </a:moveTo>
                  <a:lnTo>
                    <a:pt x="4191226" y="0"/>
                  </a:lnTo>
                  <a:lnTo>
                    <a:pt x="4191226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879" r="0" b="-22887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4191229" cy="28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Track 2: Image → Graph → GCN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84987" y="973455"/>
            <a:ext cx="5852922" cy="8049196"/>
            <a:chOff x="0" y="0"/>
            <a:chExt cx="7803896" cy="10732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03896" cy="10732262"/>
            </a:xfrm>
            <a:custGeom>
              <a:avLst/>
              <a:gdLst/>
              <a:ahLst/>
              <a:cxnLst/>
              <a:rect r="r" b="b" t="t" l="l"/>
              <a:pathLst>
                <a:path h="10732262" w="7803896">
                  <a:moveTo>
                    <a:pt x="0" y="0"/>
                  </a:moveTo>
                  <a:lnTo>
                    <a:pt x="7803896" y="0"/>
                  </a:lnTo>
                  <a:lnTo>
                    <a:pt x="7803896" y="10732262"/>
                  </a:lnTo>
                  <a:lnTo>
                    <a:pt x="0" y="1073226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369060" y="1353607"/>
            <a:ext cx="5216157" cy="7206529"/>
            <a:chOff x="0" y="0"/>
            <a:chExt cx="6954876" cy="9608706"/>
          </a:xfrm>
        </p:grpSpPr>
        <p:sp>
          <p:nvSpPr>
            <p:cNvPr name="Freeform 16" id="16" descr="/mnt/data/final_ppt_assets/t1_p4_img1.jpeg"/>
            <p:cNvSpPr/>
            <p:nvPr/>
          </p:nvSpPr>
          <p:spPr>
            <a:xfrm flipH="false" flipV="false" rot="0">
              <a:off x="0" y="0"/>
              <a:ext cx="6954901" cy="9608693"/>
            </a:xfrm>
            <a:custGeom>
              <a:avLst/>
              <a:gdLst/>
              <a:ahLst/>
              <a:cxnLst/>
              <a:rect r="r" b="b" t="t" l="l"/>
              <a:pathLst>
                <a:path h="9608693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9608693"/>
                  </a:lnTo>
                  <a:lnTo>
                    <a:pt x="0" y="9608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453" t="0" r="-4453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56570" y="9258300"/>
            <a:ext cx="5509755" cy="499501"/>
            <a:chOff x="0" y="0"/>
            <a:chExt cx="7346340" cy="6660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46442" cy="665988"/>
            </a:xfrm>
            <a:custGeom>
              <a:avLst/>
              <a:gdLst/>
              <a:ahLst/>
              <a:cxnLst/>
              <a:rect r="r" b="b" t="t" l="l"/>
              <a:pathLst>
                <a:path h="665988" w="7346442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7194169" y="0"/>
                  </a:lnTo>
                  <a:cubicBezTo>
                    <a:pt x="7278243" y="0"/>
                    <a:pt x="7346442" y="68199"/>
                    <a:pt x="7346442" y="152273"/>
                  </a:cubicBezTo>
                  <a:lnTo>
                    <a:pt x="7346442" y="513715"/>
                  </a:lnTo>
                  <a:cubicBezTo>
                    <a:pt x="7346442" y="597789"/>
                    <a:pt x="7278243" y="665988"/>
                    <a:pt x="7194169" y="665988"/>
                  </a:cubicBezTo>
                  <a:lnTo>
                    <a:pt x="152273" y="665988"/>
                  </a:lnTo>
                  <a:cubicBezTo>
                    <a:pt x="68199" y="665988"/>
                    <a:pt x="0" y="597789"/>
                    <a:pt x="0" y="513715"/>
                  </a:cubicBezTo>
                  <a:close/>
                </a:path>
              </a:pathLst>
            </a:custGeom>
            <a:solidFill>
              <a:srgbClr val="0E2A47"/>
            </a:solidFill>
            <a:ln w="19065" cap="sq">
              <a:solidFill>
                <a:srgbClr val="0E2A4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437678" y="9324265"/>
            <a:ext cx="5216157" cy="367571"/>
            <a:chOff x="0" y="0"/>
            <a:chExt cx="6954876" cy="4900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54873" cy="490080"/>
            </a:xfrm>
            <a:custGeom>
              <a:avLst/>
              <a:gdLst/>
              <a:ahLst/>
              <a:cxnLst/>
              <a:rect r="r" b="b" t="t" l="l"/>
              <a:pathLst>
                <a:path h="490080" w="6954873">
                  <a:moveTo>
                    <a:pt x="0" y="0"/>
                  </a:moveTo>
                  <a:lnTo>
                    <a:pt x="6954873" y="0"/>
                  </a:lnTo>
                  <a:lnTo>
                    <a:pt x="6954873" y="490080"/>
                  </a:lnTo>
                  <a:lnTo>
                    <a:pt x="0" y="49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109" r="0" b="-1989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954876" cy="490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Byte-derived grayscale malware textures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39986" y="6513819"/>
            <a:ext cx="479053" cy="502823"/>
          </a:xfrm>
          <a:custGeom>
            <a:avLst/>
            <a:gdLst/>
            <a:ahLst/>
            <a:cxnLst/>
            <a:rect r="r" b="b" t="t" l="l"/>
            <a:pathLst>
              <a:path h="502823" w="479053">
                <a:moveTo>
                  <a:pt x="0" y="0"/>
                </a:moveTo>
                <a:lnTo>
                  <a:pt x="479053" y="0"/>
                </a:lnTo>
                <a:lnTo>
                  <a:pt x="479053" y="502823"/>
                </a:lnTo>
                <a:lnTo>
                  <a:pt x="0" y="502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3" id="23"/>
          <p:cNvSpPr txBox="true"/>
          <p:nvPr/>
        </p:nvSpPr>
        <p:spPr>
          <a:xfrm rot="0">
            <a:off x="812969" y="6698611"/>
            <a:ext cx="4298114" cy="43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3398" b="true">
                <a:solidFill>
                  <a:srgbClr val="0E2A47"/>
                </a:solidFill>
                <a:latin typeface="Garet Bold"/>
                <a:ea typeface="Garet Bold"/>
                <a:cs typeface="Garet Bold"/>
                <a:sym typeface="Garet Bold"/>
              </a:rPr>
              <a:t>ICE 478 • GROUP-1: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8103" y="7344246"/>
            <a:ext cx="4222980" cy="93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1. Md. Mustafidur Rahman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ID: 2022-3-50-006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73246" y="7344246"/>
            <a:ext cx="3693032" cy="93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2. Amana Akter Arfa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ID: 2022-3-50-006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03622" y="8578711"/>
            <a:ext cx="3407615" cy="93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3. Rakiba Alam</a:t>
            </a: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ID: 2022-3-50-025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4900" y="5200650"/>
            <a:ext cx="9247240" cy="7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2791" b="true">
                <a:solidFill>
                  <a:srgbClr val="0E2A47"/>
                </a:solidFill>
                <a:latin typeface="Garet Bold"/>
                <a:ea typeface="Garet Bold"/>
                <a:cs typeface="Garet Bold"/>
                <a:sym typeface="Garet Bold"/>
              </a:rPr>
              <a:t>Instructor: Dr. Raihanul Islam, Associate Professor</a:t>
            </a:r>
          </a:p>
          <a:p>
            <a:pPr algn="l">
              <a:lnSpc>
                <a:spcPts val="2708"/>
              </a:lnSpc>
            </a:pPr>
            <a:r>
              <a:rPr lang="en-US" sz="2791" b="true">
                <a:solidFill>
                  <a:srgbClr val="0E2A47"/>
                </a:solidFill>
                <a:latin typeface="Garet Bold"/>
                <a:ea typeface="Garet Bold"/>
                <a:cs typeface="Garet Bold"/>
                <a:sym typeface="Garet Bold"/>
              </a:rPr>
              <a:t>Department of CSE, East West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399" y="783471"/>
            <a:ext cx="15358438" cy="912020"/>
            <a:chOff x="0" y="0"/>
            <a:chExt cx="19949503" cy="1184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184653"/>
            </a:xfrm>
            <a:custGeom>
              <a:avLst/>
              <a:gdLst/>
              <a:ahLst/>
              <a:cxnLst/>
              <a:rect r="r" b="b" t="t" l="l"/>
              <a:pathLst>
                <a:path h="1184653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184653"/>
                  </a:lnTo>
                  <a:lnTo>
                    <a:pt x="0" y="11846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90" r="0" b="-2551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19949503" cy="1175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43"/>
                </a:lnSpc>
              </a:pPr>
              <a:r>
                <a:rPr lang="en-US" sz="4703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problem and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0131" y="1760360"/>
            <a:ext cx="16775038" cy="595854"/>
            <a:chOff x="0" y="0"/>
            <a:chExt cx="21789564" cy="7739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89565" cy="773976"/>
            </a:xfrm>
            <a:custGeom>
              <a:avLst/>
              <a:gdLst/>
              <a:ahLst/>
              <a:cxnLst/>
              <a:rect r="r" b="b" t="t" l="l"/>
              <a:pathLst>
                <a:path h="773976" w="21789565">
                  <a:moveTo>
                    <a:pt x="0" y="0"/>
                  </a:moveTo>
                  <a:lnTo>
                    <a:pt x="21789565" y="0"/>
                  </a:lnTo>
                  <a:lnTo>
                    <a:pt x="21789565" y="773976"/>
                  </a:lnTo>
                  <a:lnTo>
                    <a:pt x="0" y="77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563" r="2564" b="-4664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789564" cy="7739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1"/>
                </a:lnSpc>
              </a:pPr>
              <a:r>
                <a:rPr lang="en-US" sz="272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test whether spatial relations between malware-image regions add useful information.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6922" y="2611328"/>
            <a:ext cx="4508897" cy="540648"/>
            <a:chOff x="0" y="0"/>
            <a:chExt cx="5856732" cy="702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6736" cy="702251"/>
            </a:xfrm>
            <a:custGeom>
              <a:avLst/>
              <a:gdLst/>
              <a:ahLst/>
              <a:cxnLst/>
              <a:rect r="r" b="b" t="t" l="l"/>
              <a:pathLst>
                <a:path h="70225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02251"/>
                  </a:lnTo>
                  <a:lnTo>
                    <a:pt x="0" y="702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41" r="0" b="-8856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856732" cy="702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5">
                  <a:solidFill>
                    <a:srgbClr val="C659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PROBLEM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4724" y="3237701"/>
            <a:ext cx="3052902" cy="2137033"/>
            <a:chOff x="0" y="0"/>
            <a:chExt cx="3965499" cy="27758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65448" cy="2775839"/>
            </a:xfrm>
            <a:custGeom>
              <a:avLst/>
              <a:gdLst/>
              <a:ahLst/>
              <a:cxnLst/>
              <a:rect r="r" b="b" t="t" l="l"/>
              <a:pathLst>
                <a:path h="2775839" w="3965448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3780409" y="0"/>
                  </a:lnTo>
                  <a:cubicBezTo>
                    <a:pt x="3882644" y="0"/>
                    <a:pt x="3965448" y="82804"/>
                    <a:pt x="3965448" y="185039"/>
                  </a:cubicBezTo>
                  <a:lnTo>
                    <a:pt x="3965448" y="2590800"/>
                  </a:lnTo>
                  <a:cubicBezTo>
                    <a:pt x="3965448" y="2693035"/>
                    <a:pt x="3882644" y="2775839"/>
                    <a:pt x="3780409" y="2775839"/>
                  </a:cubicBezTo>
                  <a:lnTo>
                    <a:pt x="185039" y="2775839"/>
                  </a:lnTo>
                  <a:cubicBezTo>
                    <a:pt x="82804" y="2775839"/>
                    <a:pt x="0" y="2693035"/>
                    <a:pt x="0" y="2590800"/>
                  </a:cubicBezTo>
                  <a:close/>
                </a:path>
              </a:pathLst>
            </a:custGeom>
            <a:solidFill>
              <a:srgbClr val="F7F3ED"/>
            </a:solidFill>
            <a:ln w="22878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77262" y="3457114"/>
            <a:ext cx="3107825" cy="1859921"/>
            <a:chOff x="0" y="0"/>
            <a:chExt cx="4036840" cy="24159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36833" cy="2415899"/>
            </a:xfrm>
            <a:custGeom>
              <a:avLst/>
              <a:gdLst/>
              <a:ahLst/>
              <a:cxnLst/>
              <a:rect r="r" b="b" t="t" l="l"/>
              <a:pathLst>
                <a:path h="2415899" w="4036833">
                  <a:moveTo>
                    <a:pt x="0" y="0"/>
                  </a:moveTo>
                  <a:lnTo>
                    <a:pt x="4036833" y="0"/>
                  </a:lnTo>
                  <a:lnTo>
                    <a:pt x="4036833" y="2415899"/>
                  </a:lnTo>
                  <a:lnTo>
                    <a:pt x="0" y="2415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580" t="0" r="-2099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036840" cy="2425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Malware evolves</a:t>
              </a:r>
            </a:p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and may evade</a:t>
              </a:r>
            </a:p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signature-based</a:t>
              </a:r>
            </a:p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detection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3665192" y="4293505"/>
            <a:ext cx="970418" cy="0"/>
          </a:xfrm>
          <a:prstGeom prst="line">
            <a:avLst/>
          </a:prstGeom>
          <a:ln cap="rnd" w="76200">
            <a:solidFill>
              <a:srgbClr val="C6591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4843176" y="3237701"/>
            <a:ext cx="3123357" cy="2137033"/>
            <a:chOff x="0" y="0"/>
            <a:chExt cx="4057015" cy="27758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57015" cy="2775839"/>
            </a:xfrm>
            <a:custGeom>
              <a:avLst/>
              <a:gdLst/>
              <a:ahLst/>
              <a:cxnLst/>
              <a:rect r="r" b="b" t="t" l="l"/>
              <a:pathLst>
                <a:path h="2775839" w="4057015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3871976" y="0"/>
                  </a:lnTo>
                  <a:cubicBezTo>
                    <a:pt x="3974211" y="0"/>
                    <a:pt x="4057015" y="82804"/>
                    <a:pt x="4057015" y="185039"/>
                  </a:cubicBezTo>
                  <a:lnTo>
                    <a:pt x="4057015" y="2590800"/>
                  </a:lnTo>
                  <a:cubicBezTo>
                    <a:pt x="4057015" y="2693035"/>
                    <a:pt x="3974211" y="2775839"/>
                    <a:pt x="3871976" y="2775839"/>
                  </a:cubicBezTo>
                  <a:lnTo>
                    <a:pt x="185039" y="2775839"/>
                  </a:lnTo>
                  <a:cubicBezTo>
                    <a:pt x="82804" y="2775839"/>
                    <a:pt x="0" y="2693035"/>
                    <a:pt x="0" y="2590800"/>
                  </a:cubicBezTo>
                  <a:close/>
                </a:path>
              </a:pathLst>
            </a:custGeom>
            <a:solidFill>
              <a:srgbClr val="EEF5F7"/>
            </a:solidFill>
            <a:ln w="22878" cap="sq">
              <a:solidFill>
                <a:srgbClr val="3A7A8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995819" y="3237701"/>
            <a:ext cx="2818061" cy="2079334"/>
            <a:chOff x="0" y="0"/>
            <a:chExt cx="3660458" cy="27009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60460" cy="2700900"/>
            </a:xfrm>
            <a:custGeom>
              <a:avLst/>
              <a:gdLst/>
              <a:ahLst/>
              <a:cxnLst/>
              <a:rect r="r" b="b" t="t" l="l"/>
              <a:pathLst>
                <a:path h="2700900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2700900"/>
                  </a:lnTo>
                  <a:lnTo>
                    <a:pt x="0" y="2700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80" t="0" r="-34680" b="10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660458" cy="2710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Binary files can</a:t>
              </a:r>
            </a:p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be represented as</a:t>
              </a:r>
            </a:p>
            <a:p>
              <a:pPr algn="ctr">
                <a:lnSpc>
                  <a:spcPts val="3061"/>
                </a:lnSpc>
              </a:pPr>
              <a:r>
                <a:rPr lang="en-US" sz="25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grayscale images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216582" y="4293505"/>
            <a:ext cx="878352" cy="0"/>
          </a:xfrm>
          <a:prstGeom prst="line">
            <a:avLst/>
          </a:prstGeom>
          <a:ln cap="rnd" w="76200">
            <a:solidFill>
              <a:srgbClr val="3A7A8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9352073" y="3237701"/>
            <a:ext cx="3616514" cy="2137033"/>
            <a:chOff x="0" y="0"/>
            <a:chExt cx="4697590" cy="27758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97603" cy="2775839"/>
            </a:xfrm>
            <a:custGeom>
              <a:avLst/>
              <a:gdLst/>
              <a:ahLst/>
              <a:cxnLst/>
              <a:rect r="r" b="b" t="t" l="l"/>
              <a:pathLst>
                <a:path h="2775839" w="4697603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4512564" y="0"/>
                  </a:lnTo>
                  <a:cubicBezTo>
                    <a:pt x="4614799" y="0"/>
                    <a:pt x="4697603" y="82804"/>
                    <a:pt x="4697603" y="185039"/>
                  </a:cubicBezTo>
                  <a:lnTo>
                    <a:pt x="4697603" y="2590800"/>
                  </a:lnTo>
                  <a:cubicBezTo>
                    <a:pt x="4697603" y="2693035"/>
                    <a:pt x="4614799" y="2775839"/>
                    <a:pt x="4512564" y="2775839"/>
                  </a:cubicBezTo>
                  <a:lnTo>
                    <a:pt x="185039" y="2775839"/>
                  </a:lnTo>
                  <a:cubicBezTo>
                    <a:pt x="82804" y="2775839"/>
                    <a:pt x="0" y="2693035"/>
                    <a:pt x="0" y="2590800"/>
                  </a:cubicBezTo>
                  <a:close/>
                </a:path>
              </a:pathLst>
            </a:custGeom>
            <a:solidFill>
              <a:srgbClr val="EEF2F8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504716" y="3418532"/>
            <a:ext cx="3311227" cy="1859921"/>
            <a:chOff x="0" y="0"/>
            <a:chExt cx="4301046" cy="24159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01040" cy="2415899"/>
            </a:xfrm>
            <a:custGeom>
              <a:avLst/>
              <a:gdLst/>
              <a:ahLst/>
              <a:cxnLst/>
              <a:rect r="r" b="b" t="t" l="l"/>
              <a:pathLst>
                <a:path h="2415899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2415899"/>
                  </a:lnTo>
                  <a:lnTo>
                    <a:pt x="0" y="2415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68" t="0" r="-2206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301046" cy="2415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CNNs learn</a:t>
              </a:r>
            </a:p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texture, but do not</a:t>
              </a:r>
            </a:p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explicitly model</a:t>
              </a:r>
            </a:p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patch relationships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211375" y="4293505"/>
            <a:ext cx="970418" cy="0"/>
          </a:xfrm>
          <a:prstGeom prst="line">
            <a:avLst/>
          </a:prstGeom>
          <a:ln cap="rnd" w="76200">
            <a:solidFill>
              <a:srgbClr val="1F4E7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9" id="29"/>
          <p:cNvGrpSpPr/>
          <p:nvPr/>
        </p:nvGrpSpPr>
        <p:grpSpPr>
          <a:xfrm rot="0">
            <a:off x="14424582" y="3237701"/>
            <a:ext cx="2841546" cy="2137033"/>
            <a:chOff x="0" y="0"/>
            <a:chExt cx="3690963" cy="27758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90874" cy="2775839"/>
            </a:xfrm>
            <a:custGeom>
              <a:avLst/>
              <a:gdLst/>
              <a:ahLst/>
              <a:cxnLst/>
              <a:rect r="r" b="b" t="t" l="l"/>
              <a:pathLst>
                <a:path h="2775839" w="3690874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3505835" y="0"/>
                  </a:lnTo>
                  <a:cubicBezTo>
                    <a:pt x="3608070" y="0"/>
                    <a:pt x="3690874" y="82804"/>
                    <a:pt x="3690874" y="185039"/>
                  </a:cubicBezTo>
                  <a:lnTo>
                    <a:pt x="3690874" y="2590800"/>
                  </a:lnTo>
                  <a:cubicBezTo>
                    <a:pt x="3690874" y="2693035"/>
                    <a:pt x="3608070" y="2775839"/>
                    <a:pt x="3505835" y="2775839"/>
                  </a:cubicBezTo>
                  <a:lnTo>
                    <a:pt x="185039" y="2775839"/>
                  </a:lnTo>
                  <a:cubicBezTo>
                    <a:pt x="82804" y="2775839"/>
                    <a:pt x="0" y="2693035"/>
                    <a:pt x="0" y="2590800"/>
                  </a:cubicBezTo>
                  <a:close/>
                </a:path>
              </a:pathLst>
            </a:custGeom>
            <a:solidFill>
              <a:srgbClr val="F1F8F3"/>
            </a:solidFill>
            <a:ln w="22878" cap="sq">
              <a:solidFill>
                <a:srgbClr val="4B8B5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4577225" y="3418532"/>
            <a:ext cx="2536259" cy="1859921"/>
            <a:chOff x="0" y="0"/>
            <a:chExt cx="3294418" cy="24159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94414" cy="2415899"/>
            </a:xfrm>
            <a:custGeom>
              <a:avLst/>
              <a:gdLst/>
              <a:ahLst/>
              <a:cxnLst/>
              <a:rect r="r" b="b" t="t" l="l"/>
              <a:pathLst>
                <a:path h="2415899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2415899"/>
                  </a:lnTo>
                  <a:lnTo>
                    <a:pt x="0" y="2415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294418" cy="2415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GCN can pass</a:t>
              </a:r>
            </a:p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messages between</a:t>
              </a:r>
            </a:p>
            <a:p>
              <a:pPr algn="ctr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spatial nodes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43833" y="6132312"/>
            <a:ext cx="6703678" cy="596998"/>
            <a:chOff x="0" y="0"/>
            <a:chExt cx="5856732" cy="5215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56736" cy="521564"/>
            </a:xfrm>
            <a:custGeom>
              <a:avLst/>
              <a:gdLst/>
              <a:ahLst/>
              <a:cxnLst/>
              <a:rect r="r" b="b" t="t" l="l"/>
              <a:pathLst>
                <a:path h="521564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521564"/>
                  </a:lnTo>
                  <a:lnTo>
                    <a:pt x="0" y="5215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08" r="0" b="-1538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856732" cy="521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3A7A8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RESEARCH QUESTION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04724" y="6816375"/>
            <a:ext cx="9929762" cy="1578114"/>
            <a:chOff x="0" y="0"/>
            <a:chExt cx="12094769" cy="19221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094845" cy="1922257"/>
            </a:xfrm>
            <a:custGeom>
              <a:avLst/>
              <a:gdLst/>
              <a:ahLst/>
              <a:cxnLst/>
              <a:rect r="r" b="b" t="t" l="l"/>
              <a:pathLst>
                <a:path h="1922257" w="12094845">
                  <a:moveTo>
                    <a:pt x="0" y="205086"/>
                  </a:moveTo>
                  <a:cubicBezTo>
                    <a:pt x="0" y="91814"/>
                    <a:pt x="66294" y="0"/>
                    <a:pt x="148082" y="0"/>
                  </a:cubicBezTo>
                  <a:lnTo>
                    <a:pt x="11946763" y="0"/>
                  </a:lnTo>
                  <a:cubicBezTo>
                    <a:pt x="12028551" y="0"/>
                    <a:pt x="12094845" y="91814"/>
                    <a:pt x="12094845" y="205086"/>
                  </a:cubicBezTo>
                  <a:lnTo>
                    <a:pt x="12094845" y="1717196"/>
                  </a:lnTo>
                  <a:cubicBezTo>
                    <a:pt x="12094845" y="1830468"/>
                    <a:pt x="12028551" y="1922257"/>
                    <a:pt x="11946763" y="1922257"/>
                  </a:cubicBezTo>
                  <a:lnTo>
                    <a:pt x="148082" y="1922257"/>
                  </a:lnTo>
                  <a:cubicBezTo>
                    <a:pt x="66294" y="1922257"/>
                    <a:pt x="0" y="1830468"/>
                    <a:pt x="0" y="1717196"/>
                  </a:cubicBezTo>
                  <a:close/>
                </a:path>
              </a:pathLst>
            </a:custGeom>
            <a:solidFill>
              <a:srgbClr val="F2F7FB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4526" y="6790968"/>
            <a:ext cx="8905082" cy="1616079"/>
            <a:chOff x="0" y="0"/>
            <a:chExt cx="11567058" cy="209916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567053" cy="2099167"/>
            </a:xfrm>
            <a:custGeom>
              <a:avLst/>
              <a:gdLst/>
              <a:ahLst/>
              <a:cxnLst/>
              <a:rect r="r" b="b" t="t" l="l"/>
              <a:pathLst>
                <a:path h="2099167" w="11567053">
                  <a:moveTo>
                    <a:pt x="0" y="0"/>
                  </a:moveTo>
                  <a:lnTo>
                    <a:pt x="11567053" y="0"/>
                  </a:lnTo>
                  <a:lnTo>
                    <a:pt x="11567053" y="2099167"/>
                  </a:lnTo>
                  <a:lnTo>
                    <a:pt x="0" y="20991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391" r="0" b="-3134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85725"/>
              <a:ext cx="11567058" cy="2013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2481"/>
                </a:lnSpc>
              </a:pPr>
              <a:r>
                <a:rPr lang="en-US" sz="2851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Can an image-to-graph representation improve malware family classification by modeling relationships between neighboring byte-image patches?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34809" y="6371222"/>
            <a:ext cx="4508897" cy="540648"/>
            <a:chOff x="0" y="0"/>
            <a:chExt cx="5856732" cy="70226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6736" cy="702251"/>
            </a:xfrm>
            <a:custGeom>
              <a:avLst/>
              <a:gdLst/>
              <a:ahLst/>
              <a:cxnLst/>
              <a:rect r="r" b="b" t="t" l="l"/>
              <a:pathLst>
                <a:path h="70225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02251"/>
                  </a:lnTo>
                  <a:lnTo>
                    <a:pt x="0" y="702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41" r="0" b="-885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856732" cy="702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5">
                  <a:solidFill>
                    <a:srgbClr val="C659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OBJECTIVES: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403686" y="7014575"/>
            <a:ext cx="526820" cy="526820"/>
            <a:chOff x="0" y="0"/>
            <a:chExt cx="684301" cy="68430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1F4E7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540284" y="7137084"/>
            <a:ext cx="253623" cy="389750"/>
            <a:chOff x="0" y="0"/>
            <a:chExt cx="329438" cy="50625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441" cy="506260"/>
            </a:xfrm>
            <a:custGeom>
              <a:avLst/>
              <a:gdLst/>
              <a:ahLst/>
              <a:cxnLst/>
              <a:rect r="r" b="b" t="t" l="l"/>
              <a:pathLst>
                <a:path h="50626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506260"/>
                  </a:lnTo>
                  <a:lnTo>
                    <a:pt x="0" y="506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8" t="0" r="-21277" b="6384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329438" cy="496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75708" y="7052540"/>
            <a:ext cx="5777032" cy="540681"/>
            <a:chOff x="0" y="0"/>
            <a:chExt cx="7503947" cy="70230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503943" cy="702297"/>
            </a:xfrm>
            <a:custGeom>
              <a:avLst/>
              <a:gdLst/>
              <a:ahLst/>
              <a:cxnLst/>
              <a:rect r="r" b="b" t="t" l="l"/>
              <a:pathLst>
                <a:path h="702297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02297"/>
                  </a:lnTo>
                  <a:lnTo>
                    <a:pt x="0" y="702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09" r="0" b="-14468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503947" cy="702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Establish strong CNN baselines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03686" y="7902265"/>
            <a:ext cx="526820" cy="526820"/>
            <a:chOff x="0" y="0"/>
            <a:chExt cx="684301" cy="68430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3A7A85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540284" y="8024774"/>
            <a:ext cx="253623" cy="389750"/>
            <a:chOff x="0" y="0"/>
            <a:chExt cx="329438" cy="50625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441" cy="506260"/>
            </a:xfrm>
            <a:custGeom>
              <a:avLst/>
              <a:gdLst/>
              <a:ahLst/>
              <a:cxnLst/>
              <a:rect r="r" b="b" t="t" l="l"/>
              <a:pathLst>
                <a:path h="50626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506260"/>
                  </a:lnTo>
                  <a:lnTo>
                    <a:pt x="0" y="506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8" t="0" r="-21277" b="638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329438" cy="496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075708" y="7940230"/>
            <a:ext cx="5777032" cy="540681"/>
            <a:chOff x="0" y="0"/>
            <a:chExt cx="7503947" cy="70230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503943" cy="702297"/>
            </a:xfrm>
            <a:custGeom>
              <a:avLst/>
              <a:gdLst/>
              <a:ahLst/>
              <a:cxnLst/>
              <a:rect r="r" b="b" t="t" l="l"/>
              <a:pathLst>
                <a:path h="702297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02297"/>
                  </a:lnTo>
                  <a:lnTo>
                    <a:pt x="0" y="7022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09" r="0" b="-14468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503947" cy="702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Build and evaluate a PatchGCN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03686" y="8789955"/>
            <a:ext cx="526820" cy="526820"/>
            <a:chOff x="0" y="0"/>
            <a:chExt cx="684301" cy="68430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40284" y="8912455"/>
            <a:ext cx="253623" cy="389750"/>
            <a:chOff x="0" y="0"/>
            <a:chExt cx="329438" cy="50625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441" cy="506260"/>
            </a:xfrm>
            <a:custGeom>
              <a:avLst/>
              <a:gdLst/>
              <a:ahLst/>
              <a:cxnLst/>
              <a:rect r="r" b="b" t="t" l="l"/>
              <a:pathLst>
                <a:path h="506260" w="329441">
                  <a:moveTo>
                    <a:pt x="0" y="0"/>
                  </a:moveTo>
                  <a:lnTo>
                    <a:pt x="329441" y="0"/>
                  </a:lnTo>
                  <a:lnTo>
                    <a:pt x="329441" y="506260"/>
                  </a:lnTo>
                  <a:lnTo>
                    <a:pt x="0" y="506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8" t="0" r="-21277" b="6384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329438" cy="496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075708" y="8827920"/>
            <a:ext cx="5777032" cy="923002"/>
            <a:chOff x="0" y="0"/>
            <a:chExt cx="7503947" cy="119891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503943" cy="1198899"/>
            </a:xfrm>
            <a:custGeom>
              <a:avLst/>
              <a:gdLst/>
              <a:ahLst/>
              <a:cxnLst/>
              <a:rect r="r" b="b" t="t" l="l"/>
              <a:pathLst>
                <a:path h="1198899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1198899"/>
                  </a:lnTo>
                  <a:lnTo>
                    <a:pt x="0" y="1198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584" r="0" b="-4333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7503947" cy="1198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Improve the GCN, then test ablation, CV, significance and XAI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>
            <a:off x="659051" y="9750922"/>
            <a:ext cx="16206465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17295792" y="9419423"/>
            <a:ext cx="556948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899" y="384353"/>
            <a:ext cx="16405115" cy="526766"/>
            <a:chOff x="0" y="0"/>
            <a:chExt cx="19949503" cy="640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640580"/>
            </a:xfrm>
            <a:custGeom>
              <a:avLst/>
              <a:gdLst/>
              <a:ahLst/>
              <a:cxnLst/>
              <a:rect r="r" b="b" t="t" l="l"/>
              <a:pathLst>
                <a:path h="640580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820" r="0" b="-5568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949503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Dataset, cleaning and EDA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9445" y="1096325"/>
            <a:ext cx="1375456" cy="96154"/>
            <a:chOff x="0" y="0"/>
            <a:chExt cx="167262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590" cy="116967"/>
            </a:xfrm>
            <a:custGeom>
              <a:avLst/>
              <a:gdLst/>
              <a:ahLst/>
              <a:cxnLst/>
              <a:rect r="r" b="b" t="t" l="l"/>
              <a:pathLst>
                <a:path h="116967" w="1672590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419899" y="1287381"/>
            <a:ext cx="17458656" cy="525932"/>
            <a:chOff x="0" y="0"/>
            <a:chExt cx="21230666" cy="6395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0667" cy="639567"/>
            </a:xfrm>
            <a:custGeom>
              <a:avLst/>
              <a:gdLst/>
              <a:ahLst/>
              <a:cxnLst/>
              <a:rect r="r" b="b" t="t" l="l"/>
              <a:pathLst>
                <a:path h="63956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639567"/>
                  </a:lnTo>
                  <a:lnTo>
                    <a:pt x="0" y="6395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180" r="0" b="-58544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30666" cy="6395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Original MaleBin images were cleaned before modeling to reduce leakage risk.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70402" y="1949611"/>
            <a:ext cx="2257586" cy="541825"/>
            <a:chOff x="0" y="0"/>
            <a:chExt cx="2745346" cy="6588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5345" cy="658883"/>
            </a:xfrm>
            <a:custGeom>
              <a:avLst/>
              <a:gdLst/>
              <a:ahLst/>
              <a:cxnLst/>
              <a:rect r="r" b="b" t="t" l="l"/>
              <a:pathLst>
                <a:path h="658883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2745346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1F4E7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12,464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0402" y="2581731"/>
            <a:ext cx="2257586" cy="421421"/>
            <a:chOff x="0" y="0"/>
            <a:chExt cx="2745346" cy="5124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5345" cy="512464"/>
            </a:xfrm>
            <a:custGeom>
              <a:avLst/>
              <a:gdLst/>
              <a:ahLst/>
              <a:cxnLst/>
              <a:rect r="r" b="b" t="t" l="l"/>
              <a:pathLst>
                <a:path h="512464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3" r="0" b="-5438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745346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Original images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78491" y="1949611"/>
            <a:ext cx="1806067" cy="541825"/>
            <a:chOff x="0" y="0"/>
            <a:chExt cx="2196274" cy="6588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76" cy="658883"/>
            </a:xfrm>
            <a:custGeom>
              <a:avLst/>
              <a:gdLst/>
              <a:ahLst/>
              <a:cxnLst/>
              <a:rect r="r" b="b" t="t" l="l"/>
              <a:pathLst>
                <a:path h="658883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49" r="0" b="-149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196274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1F4E7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978491" y="2581731"/>
            <a:ext cx="1806067" cy="421421"/>
            <a:chOff x="0" y="0"/>
            <a:chExt cx="2196274" cy="5124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6276" cy="512464"/>
            </a:xfrm>
            <a:custGeom>
              <a:avLst/>
              <a:gdLst/>
              <a:ahLst/>
              <a:cxnLst/>
              <a:rect r="r" b="b" t="t" l="l"/>
              <a:pathLst>
                <a:path h="512464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6" r="0" b="-335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19627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Original families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85574" y="1949611"/>
            <a:ext cx="2107083" cy="541825"/>
            <a:chOff x="0" y="0"/>
            <a:chExt cx="2562327" cy="6588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2322" cy="658883"/>
            </a:xfrm>
            <a:custGeom>
              <a:avLst/>
              <a:gdLst/>
              <a:ahLst/>
              <a:cxnLst/>
              <a:rect r="r" b="b" t="t" l="l"/>
              <a:pathLst>
                <a:path h="658883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4" r="0" b="-257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2562327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3A7A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9,230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85574" y="2581731"/>
            <a:ext cx="2107083" cy="421421"/>
            <a:chOff x="0" y="0"/>
            <a:chExt cx="2562327" cy="5124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62322" cy="512464"/>
            </a:xfrm>
            <a:custGeom>
              <a:avLst/>
              <a:gdLst/>
              <a:ahLst/>
              <a:cxnLst/>
              <a:rect r="r" b="b" t="t" l="l"/>
              <a:pathLst>
                <a:path h="512464" w="2562322">
                  <a:moveTo>
                    <a:pt x="0" y="0"/>
                  </a:moveTo>
                  <a:lnTo>
                    <a:pt x="2562322" y="0"/>
                  </a:lnTo>
                  <a:lnTo>
                    <a:pt x="256232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562327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images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43160" y="1949611"/>
            <a:ext cx="1881323" cy="541825"/>
            <a:chOff x="0" y="0"/>
            <a:chExt cx="2287791" cy="6588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7787" cy="658883"/>
            </a:xfrm>
            <a:custGeom>
              <a:avLst/>
              <a:gdLst/>
              <a:ahLst/>
              <a:cxnLst/>
              <a:rect r="r" b="b" t="t" l="l"/>
              <a:pathLst>
                <a:path h="658883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6" r="0" b="-1765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2287791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3A7A8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343160" y="2581731"/>
            <a:ext cx="1881323" cy="421421"/>
            <a:chOff x="0" y="0"/>
            <a:chExt cx="2287791" cy="512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7787" cy="512464"/>
            </a:xfrm>
            <a:custGeom>
              <a:avLst/>
              <a:gdLst/>
              <a:ahLst/>
              <a:cxnLst/>
              <a:rect r="r" b="b" t="t" l="l"/>
              <a:pathLst>
                <a:path h="512464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287791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Retained classes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50233" y="1949611"/>
            <a:ext cx="2031826" cy="541825"/>
            <a:chOff x="0" y="0"/>
            <a:chExt cx="2470810" cy="6588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70810" cy="658883"/>
            </a:xfrm>
            <a:custGeom>
              <a:avLst/>
              <a:gdLst/>
              <a:ahLst/>
              <a:cxnLst/>
              <a:rect r="r" b="b" t="t" l="l"/>
              <a:pathLst>
                <a:path h="658883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2470810" cy="649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C6591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70/15/15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50233" y="2581731"/>
            <a:ext cx="2031826" cy="421421"/>
            <a:chOff x="0" y="0"/>
            <a:chExt cx="2470810" cy="5124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70810" cy="512464"/>
            </a:xfrm>
            <a:custGeom>
              <a:avLst/>
              <a:gdLst/>
              <a:ahLst/>
              <a:cxnLst/>
              <a:rect r="r" b="b" t="t" l="l"/>
              <a:pathLst>
                <a:path h="512464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Split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45659" y="3243951"/>
            <a:ext cx="5342954" cy="5944976"/>
            <a:chOff x="0" y="0"/>
            <a:chExt cx="6497320" cy="7229412"/>
          </a:xfrm>
        </p:grpSpPr>
        <p:sp>
          <p:nvSpPr>
            <p:cNvPr name="Freeform 41" id="41" descr="/mnt/data/final_ppt_assets/t1_p4_img1.jpeg"/>
            <p:cNvSpPr/>
            <p:nvPr/>
          </p:nvSpPr>
          <p:spPr>
            <a:xfrm flipH="false" flipV="false" rot="0">
              <a:off x="0" y="0"/>
              <a:ext cx="6497320" cy="7229348"/>
            </a:xfrm>
            <a:custGeom>
              <a:avLst/>
              <a:gdLst/>
              <a:ahLst/>
              <a:cxnLst/>
              <a:rect r="r" b="b" t="t" l="l"/>
              <a:pathLst>
                <a:path h="7229348" w="6497320">
                  <a:moveTo>
                    <a:pt x="0" y="0"/>
                  </a:moveTo>
                  <a:lnTo>
                    <a:pt x="6497320" y="0"/>
                  </a:lnTo>
                  <a:lnTo>
                    <a:pt x="6497320" y="7229348"/>
                  </a:lnTo>
                  <a:lnTo>
                    <a:pt x="0" y="7229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06" r="0" b="-7006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45659" y="9339430"/>
            <a:ext cx="5342954" cy="301016"/>
            <a:chOff x="0" y="0"/>
            <a:chExt cx="6497320" cy="3660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97316" cy="366046"/>
            </a:xfrm>
            <a:custGeom>
              <a:avLst/>
              <a:gdLst/>
              <a:ahLst/>
              <a:cxnLst/>
              <a:rect r="r" b="b" t="t" l="l"/>
              <a:pathLst>
                <a:path h="366046" w="6497316">
                  <a:moveTo>
                    <a:pt x="0" y="0"/>
                  </a:moveTo>
                  <a:lnTo>
                    <a:pt x="6497316" y="0"/>
                  </a:lnTo>
                  <a:lnTo>
                    <a:pt x="6497316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8" r="0" b="-2958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6497320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Sample byte images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05804" y="3153655"/>
            <a:ext cx="9584347" cy="4515172"/>
            <a:chOff x="0" y="0"/>
            <a:chExt cx="11655082" cy="5490693"/>
          </a:xfrm>
        </p:grpSpPr>
        <p:sp>
          <p:nvSpPr>
            <p:cNvPr name="Freeform 46" id="46" descr="/mnt/data/final_ppt_assets/t1_p5_img1.jpeg"/>
            <p:cNvSpPr/>
            <p:nvPr/>
          </p:nvSpPr>
          <p:spPr>
            <a:xfrm flipH="false" flipV="false" rot="0">
              <a:off x="0" y="0"/>
              <a:ext cx="11655044" cy="5490718"/>
            </a:xfrm>
            <a:custGeom>
              <a:avLst/>
              <a:gdLst/>
              <a:ahLst/>
              <a:cxnLst/>
              <a:rect r="r" b="b" t="t" l="l"/>
              <a:pathLst>
                <a:path h="5490718" w="11655044">
                  <a:moveTo>
                    <a:pt x="0" y="0"/>
                  </a:moveTo>
                  <a:lnTo>
                    <a:pt x="11655044" y="0"/>
                  </a:lnTo>
                  <a:lnTo>
                    <a:pt x="11655044" y="5490718"/>
                  </a:lnTo>
                  <a:lnTo>
                    <a:pt x="0" y="549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001388" y="8049827"/>
            <a:ext cx="10993180" cy="988750"/>
            <a:chOff x="0" y="0"/>
            <a:chExt cx="13192912" cy="11865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192888" cy="1186561"/>
            </a:xfrm>
            <a:custGeom>
              <a:avLst/>
              <a:gdLst/>
              <a:ahLst/>
              <a:cxnLst/>
              <a:rect r="r" b="b" t="t" l="l"/>
              <a:pathLst>
                <a:path h="1186561" w="13192888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3044551" y="0"/>
                  </a:lnTo>
                  <a:cubicBezTo>
                    <a:pt x="13126465" y="0"/>
                    <a:pt x="13192888" y="66421"/>
                    <a:pt x="13192888" y="148336"/>
                  </a:cubicBezTo>
                  <a:lnTo>
                    <a:pt x="13192888" y="1038225"/>
                  </a:lnTo>
                  <a:cubicBezTo>
                    <a:pt x="13192888" y="1120140"/>
                    <a:pt x="13126465" y="1186561"/>
                    <a:pt x="13044551" y="1186561"/>
                  </a:cubicBezTo>
                  <a:lnTo>
                    <a:pt x="148336" y="1186561"/>
                  </a:lnTo>
                  <a:cubicBezTo>
                    <a:pt x="66421" y="1186561"/>
                    <a:pt x="0" y="1120140"/>
                    <a:pt x="0" y="1038225"/>
                  </a:cubicBezTo>
                  <a:close/>
                </a:path>
              </a:pathLst>
            </a:custGeom>
            <a:solidFill>
              <a:srgbClr val="F7F3ED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218364" y="8249678"/>
            <a:ext cx="10631977" cy="749478"/>
            <a:chOff x="0" y="0"/>
            <a:chExt cx="12929057" cy="9114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29058" cy="911399"/>
            </a:xfrm>
            <a:custGeom>
              <a:avLst/>
              <a:gdLst/>
              <a:ahLst/>
              <a:cxnLst/>
              <a:rect r="r" b="b" t="t" l="l"/>
              <a:pathLst>
                <a:path h="911399" w="12929058">
                  <a:moveTo>
                    <a:pt x="0" y="0"/>
                  </a:moveTo>
                  <a:lnTo>
                    <a:pt x="12929058" y="0"/>
                  </a:lnTo>
                  <a:lnTo>
                    <a:pt x="12929058" y="911399"/>
                  </a:lnTo>
                  <a:lnTo>
                    <a:pt x="0" y="911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592" r="2040" b="-2149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2929057" cy="920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18202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EDA takeaway: families show distinctive texture patterns, but class imbalance makes macro-F1 more informative than accuracy alone.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679659" y="9711884"/>
            <a:ext cx="16145355" cy="39038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17290567" y="9419423"/>
            <a:ext cx="567399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915" y="384353"/>
            <a:ext cx="17531085" cy="846263"/>
            <a:chOff x="0" y="0"/>
            <a:chExt cx="19949503" cy="9630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963010"/>
            </a:xfrm>
            <a:custGeom>
              <a:avLst/>
              <a:gdLst/>
              <a:ahLst/>
              <a:cxnLst/>
              <a:rect r="r" b="b" t="t" l="l"/>
              <a:pathLst>
                <a:path h="963010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963010"/>
                  </a:lnTo>
                  <a:lnTo>
                    <a:pt x="0" y="9630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388" r="0" b="-336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949503" cy="96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Related work and research gap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6768" y="1230615"/>
            <a:ext cx="1276688" cy="98256"/>
            <a:chOff x="0" y="0"/>
            <a:chExt cx="1672628" cy="128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590" cy="128766"/>
            </a:xfrm>
            <a:custGeom>
              <a:avLst/>
              <a:gdLst/>
              <a:ahLst/>
              <a:cxnLst/>
              <a:rect r="r" b="b" t="t" l="l"/>
              <a:pathLst>
                <a:path h="128766" w="1672590">
                  <a:moveTo>
                    <a:pt x="0" y="0"/>
                  </a:moveTo>
                  <a:lnTo>
                    <a:pt x="1672590" y="0"/>
                  </a:lnTo>
                  <a:lnTo>
                    <a:pt x="1672590" y="128766"/>
                  </a:lnTo>
                  <a:lnTo>
                    <a:pt x="0" y="128766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6768" y="1569541"/>
            <a:ext cx="16205000" cy="485492"/>
            <a:chOff x="0" y="0"/>
            <a:chExt cx="21230666" cy="6360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0667" cy="636063"/>
            </a:xfrm>
            <a:custGeom>
              <a:avLst/>
              <a:gdLst/>
              <a:ahLst/>
              <a:cxnLst/>
              <a:rect r="r" b="b" t="t" l="l"/>
              <a:pathLst>
                <a:path h="636063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636063"/>
                  </a:lnTo>
                  <a:lnTo>
                    <a:pt x="0" y="6360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531" r="0" b="-58922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30666" cy="63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1"/>
                </a:lnSpc>
              </a:pPr>
              <a:r>
                <a:rPr lang="en-US" sz="222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We use the related work as design guidance, not as directly comparable MaleBin benchmarks.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725698" y="3372011"/>
            <a:ext cx="14225540" cy="49671"/>
          </a:xfrm>
          <a:prstGeom prst="line">
            <a:avLst/>
          </a:prstGeom>
          <a:ln cap="rnd" w="19050">
            <a:solidFill>
              <a:srgbClr val="B9C7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389121" y="2973611"/>
            <a:ext cx="715046" cy="846457"/>
            <a:chOff x="0" y="0"/>
            <a:chExt cx="936803" cy="11089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6762" cy="1108921"/>
            </a:xfrm>
            <a:custGeom>
              <a:avLst/>
              <a:gdLst/>
              <a:ahLst/>
              <a:cxnLst/>
              <a:rect r="r" b="b" t="t" l="l"/>
              <a:pathLst>
                <a:path h="1108921" w="936762">
                  <a:moveTo>
                    <a:pt x="0" y="554542"/>
                  </a:moveTo>
                  <a:cubicBezTo>
                    <a:pt x="0" y="248285"/>
                    <a:pt x="209739" y="0"/>
                    <a:pt x="468450" y="0"/>
                  </a:cubicBezTo>
                  <a:cubicBezTo>
                    <a:pt x="727160" y="0"/>
                    <a:pt x="936762" y="248285"/>
                    <a:pt x="936762" y="554542"/>
                  </a:cubicBezTo>
                  <a:cubicBezTo>
                    <a:pt x="936762" y="860798"/>
                    <a:pt x="727160" y="1108921"/>
                    <a:pt x="468450" y="1108921"/>
                  </a:cubicBezTo>
                  <a:cubicBezTo>
                    <a:pt x="209739" y="1108921"/>
                    <a:pt x="0" y="860798"/>
                    <a:pt x="0" y="554542"/>
                  </a:cubicBezTo>
                  <a:close/>
                </a:path>
              </a:pathLst>
            </a:custGeom>
            <a:solidFill>
              <a:srgbClr val="1F4E79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43091" y="2414434"/>
            <a:ext cx="1207117" cy="357247"/>
            <a:chOff x="0" y="0"/>
            <a:chExt cx="1581480" cy="468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1481" cy="468032"/>
            </a:xfrm>
            <a:custGeom>
              <a:avLst/>
              <a:gdLst/>
              <a:ahLst/>
              <a:cxnLst/>
              <a:rect r="r" b="b" t="t" l="l"/>
              <a:pathLst>
                <a:path h="468032" w="1581481">
                  <a:moveTo>
                    <a:pt x="0" y="0"/>
                  </a:moveTo>
                  <a:lnTo>
                    <a:pt x="1581481" y="0"/>
                  </a:lnTo>
                  <a:lnTo>
                    <a:pt x="1581481" y="468032"/>
                  </a:lnTo>
                  <a:lnTo>
                    <a:pt x="0" y="46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51" r="7416" b="-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581480" cy="4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1317" y="4039885"/>
            <a:ext cx="1810675" cy="392967"/>
            <a:chOff x="0" y="0"/>
            <a:chExt cx="2372221" cy="5148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2222" cy="514835"/>
            </a:xfrm>
            <a:custGeom>
              <a:avLst/>
              <a:gdLst/>
              <a:ahLst/>
              <a:cxnLst/>
              <a:rect r="r" b="b" t="t" l="l"/>
              <a:pathLst>
                <a:path h="514835" w="2372222">
                  <a:moveTo>
                    <a:pt x="0" y="0"/>
                  </a:moveTo>
                  <a:lnTo>
                    <a:pt x="2372222" y="0"/>
                  </a:lnTo>
                  <a:lnTo>
                    <a:pt x="2372222" y="514835"/>
                  </a:lnTo>
                  <a:lnTo>
                    <a:pt x="0" y="5148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17" r="7416" b="-222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372221" cy="51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5157" y="4611470"/>
            <a:ext cx="2202985" cy="1161030"/>
            <a:chOff x="0" y="0"/>
            <a:chExt cx="2886198" cy="1521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86203" cy="1521103"/>
            </a:xfrm>
            <a:custGeom>
              <a:avLst/>
              <a:gdLst/>
              <a:ahLst/>
              <a:cxnLst/>
              <a:rect r="r" b="b" t="t" l="l"/>
              <a:pathLst>
                <a:path h="1521103" w="2886203">
                  <a:moveTo>
                    <a:pt x="0" y="0"/>
                  </a:moveTo>
                  <a:lnTo>
                    <a:pt x="2886203" y="0"/>
                  </a:lnTo>
                  <a:lnTo>
                    <a:pt x="2886203" y="1521103"/>
                  </a:lnTo>
                  <a:lnTo>
                    <a:pt x="0" y="15211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93" t="0" r="823" b="217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886198" cy="152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Patch nodes</a:t>
              </a:r>
            </a:p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nearest-neighbor graph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35033" y="2973611"/>
            <a:ext cx="715046" cy="846457"/>
            <a:chOff x="0" y="0"/>
            <a:chExt cx="936803" cy="1108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6762" cy="1108921"/>
            </a:xfrm>
            <a:custGeom>
              <a:avLst/>
              <a:gdLst/>
              <a:ahLst/>
              <a:cxnLst/>
              <a:rect r="r" b="b" t="t" l="l"/>
              <a:pathLst>
                <a:path h="1108921" w="936762">
                  <a:moveTo>
                    <a:pt x="0" y="554542"/>
                  </a:moveTo>
                  <a:cubicBezTo>
                    <a:pt x="0" y="248285"/>
                    <a:pt x="209739" y="0"/>
                    <a:pt x="468450" y="0"/>
                  </a:cubicBezTo>
                  <a:cubicBezTo>
                    <a:pt x="727160" y="0"/>
                    <a:pt x="936762" y="248285"/>
                    <a:pt x="936762" y="554542"/>
                  </a:cubicBezTo>
                  <a:cubicBezTo>
                    <a:pt x="936762" y="860798"/>
                    <a:pt x="727160" y="1108921"/>
                    <a:pt x="468450" y="1108921"/>
                  </a:cubicBezTo>
                  <a:cubicBezTo>
                    <a:pt x="209739" y="1108921"/>
                    <a:pt x="0" y="860798"/>
                    <a:pt x="0" y="554542"/>
                  </a:cubicBezTo>
                  <a:close/>
                </a:path>
              </a:pathLst>
            </a:custGeom>
            <a:solidFill>
              <a:srgbClr val="1F4E79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689003" y="2414434"/>
            <a:ext cx="1207117" cy="357247"/>
            <a:chOff x="0" y="0"/>
            <a:chExt cx="1581480" cy="468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81481" cy="468032"/>
            </a:xfrm>
            <a:custGeom>
              <a:avLst/>
              <a:gdLst/>
              <a:ahLst/>
              <a:cxnLst/>
              <a:rect r="r" b="b" t="t" l="l"/>
              <a:pathLst>
                <a:path h="468032" w="1581481">
                  <a:moveTo>
                    <a:pt x="0" y="0"/>
                  </a:moveTo>
                  <a:lnTo>
                    <a:pt x="1581481" y="0"/>
                  </a:lnTo>
                  <a:lnTo>
                    <a:pt x="1581481" y="468032"/>
                  </a:lnTo>
                  <a:lnTo>
                    <a:pt x="0" y="46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51" r="7416" b="-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581480" cy="4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387219" y="4039885"/>
            <a:ext cx="1810675" cy="392967"/>
            <a:chOff x="0" y="0"/>
            <a:chExt cx="2372221" cy="5148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72222" cy="514835"/>
            </a:xfrm>
            <a:custGeom>
              <a:avLst/>
              <a:gdLst/>
              <a:ahLst/>
              <a:cxnLst/>
              <a:rect r="r" b="b" t="t" l="l"/>
              <a:pathLst>
                <a:path h="514835" w="2372222">
                  <a:moveTo>
                    <a:pt x="0" y="0"/>
                  </a:moveTo>
                  <a:lnTo>
                    <a:pt x="2372222" y="0"/>
                  </a:lnTo>
                  <a:lnTo>
                    <a:pt x="2372222" y="514835"/>
                  </a:lnTo>
                  <a:lnTo>
                    <a:pt x="0" y="5148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17" r="7416" b="-222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372221" cy="51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IMGCN-LPE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91058" y="4611470"/>
            <a:ext cx="2202985" cy="1161030"/>
            <a:chOff x="0" y="0"/>
            <a:chExt cx="2886198" cy="1521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86203" cy="1521103"/>
            </a:xfrm>
            <a:custGeom>
              <a:avLst/>
              <a:gdLst/>
              <a:ahLst/>
              <a:cxnLst/>
              <a:rect r="r" b="b" t="t" l="l"/>
              <a:pathLst>
                <a:path h="1521103" w="2886203">
                  <a:moveTo>
                    <a:pt x="0" y="0"/>
                  </a:moveTo>
                  <a:lnTo>
                    <a:pt x="2886203" y="0"/>
                  </a:lnTo>
                  <a:lnTo>
                    <a:pt x="2886203" y="1521103"/>
                  </a:lnTo>
                  <a:lnTo>
                    <a:pt x="0" y="15211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93" t="0" r="823" b="217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886198" cy="152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SLIC superpixels</a:t>
              </a:r>
            </a:p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positional GCN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480945" y="2973611"/>
            <a:ext cx="715046" cy="846457"/>
            <a:chOff x="0" y="0"/>
            <a:chExt cx="936803" cy="11089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6762" cy="1108921"/>
            </a:xfrm>
            <a:custGeom>
              <a:avLst/>
              <a:gdLst/>
              <a:ahLst/>
              <a:cxnLst/>
              <a:rect r="r" b="b" t="t" l="l"/>
              <a:pathLst>
                <a:path h="1108921" w="936762">
                  <a:moveTo>
                    <a:pt x="0" y="554542"/>
                  </a:moveTo>
                  <a:cubicBezTo>
                    <a:pt x="0" y="248285"/>
                    <a:pt x="209739" y="0"/>
                    <a:pt x="468450" y="0"/>
                  </a:cubicBezTo>
                  <a:cubicBezTo>
                    <a:pt x="727160" y="0"/>
                    <a:pt x="936762" y="248285"/>
                    <a:pt x="936762" y="554542"/>
                  </a:cubicBezTo>
                  <a:cubicBezTo>
                    <a:pt x="936762" y="860798"/>
                    <a:pt x="727160" y="1108921"/>
                    <a:pt x="468450" y="1108921"/>
                  </a:cubicBezTo>
                  <a:cubicBezTo>
                    <a:pt x="209739" y="1108921"/>
                    <a:pt x="0" y="860798"/>
                    <a:pt x="0" y="554542"/>
                  </a:cubicBezTo>
                  <a:close/>
                </a:path>
              </a:pathLst>
            </a:custGeom>
            <a:solidFill>
              <a:srgbClr val="3A7A85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234904" y="2414434"/>
            <a:ext cx="1207117" cy="357247"/>
            <a:chOff x="0" y="0"/>
            <a:chExt cx="1581480" cy="468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81481" cy="468032"/>
            </a:xfrm>
            <a:custGeom>
              <a:avLst/>
              <a:gdLst/>
              <a:ahLst/>
              <a:cxnLst/>
              <a:rect r="r" b="b" t="t" l="l"/>
              <a:pathLst>
                <a:path h="468032" w="1581481">
                  <a:moveTo>
                    <a:pt x="0" y="0"/>
                  </a:moveTo>
                  <a:lnTo>
                    <a:pt x="1581481" y="0"/>
                  </a:lnTo>
                  <a:lnTo>
                    <a:pt x="1581481" y="468032"/>
                  </a:lnTo>
                  <a:lnTo>
                    <a:pt x="0" y="46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51" r="7416" b="-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581480" cy="4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933130" y="4039885"/>
            <a:ext cx="1810675" cy="392967"/>
            <a:chOff x="0" y="0"/>
            <a:chExt cx="2372221" cy="5148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72222" cy="514835"/>
            </a:xfrm>
            <a:custGeom>
              <a:avLst/>
              <a:gdLst/>
              <a:ahLst/>
              <a:cxnLst/>
              <a:rect r="r" b="b" t="t" l="l"/>
              <a:pathLst>
                <a:path h="514835" w="2372222">
                  <a:moveTo>
                    <a:pt x="0" y="0"/>
                  </a:moveTo>
                  <a:lnTo>
                    <a:pt x="2372222" y="0"/>
                  </a:lnTo>
                  <a:lnTo>
                    <a:pt x="2372222" y="514835"/>
                  </a:lnTo>
                  <a:lnTo>
                    <a:pt x="0" y="5148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17" r="7416" b="-2222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372221" cy="51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WaveMesh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736970" y="4611470"/>
            <a:ext cx="2202985" cy="1161030"/>
            <a:chOff x="0" y="0"/>
            <a:chExt cx="2886198" cy="1521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886203" cy="1521103"/>
            </a:xfrm>
            <a:custGeom>
              <a:avLst/>
              <a:gdLst/>
              <a:ahLst/>
              <a:cxnLst/>
              <a:rect r="r" b="b" t="t" l="l"/>
              <a:pathLst>
                <a:path h="1521103" w="2886203">
                  <a:moveTo>
                    <a:pt x="0" y="0"/>
                  </a:moveTo>
                  <a:lnTo>
                    <a:pt x="2886203" y="0"/>
                  </a:lnTo>
                  <a:lnTo>
                    <a:pt x="2886203" y="1521103"/>
                  </a:lnTo>
                  <a:lnTo>
                    <a:pt x="0" y="15211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93" t="0" r="823" b="2179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886198" cy="152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Multiscale superpixels</a:t>
              </a:r>
            </a:p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SplineCNN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026846" y="2973611"/>
            <a:ext cx="715046" cy="846457"/>
            <a:chOff x="0" y="0"/>
            <a:chExt cx="936803" cy="11089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6762" cy="1108921"/>
            </a:xfrm>
            <a:custGeom>
              <a:avLst/>
              <a:gdLst/>
              <a:ahLst/>
              <a:cxnLst/>
              <a:rect r="r" b="b" t="t" l="l"/>
              <a:pathLst>
                <a:path h="1108921" w="936762">
                  <a:moveTo>
                    <a:pt x="0" y="554542"/>
                  </a:moveTo>
                  <a:cubicBezTo>
                    <a:pt x="0" y="248285"/>
                    <a:pt x="209739" y="0"/>
                    <a:pt x="468450" y="0"/>
                  </a:cubicBezTo>
                  <a:cubicBezTo>
                    <a:pt x="727160" y="0"/>
                    <a:pt x="936762" y="248285"/>
                    <a:pt x="936762" y="554542"/>
                  </a:cubicBezTo>
                  <a:cubicBezTo>
                    <a:pt x="936762" y="860798"/>
                    <a:pt x="727160" y="1108921"/>
                    <a:pt x="468450" y="1108921"/>
                  </a:cubicBezTo>
                  <a:cubicBezTo>
                    <a:pt x="209739" y="1108921"/>
                    <a:pt x="0" y="860798"/>
                    <a:pt x="0" y="554542"/>
                  </a:cubicBezTo>
                  <a:close/>
                </a:path>
              </a:pathLst>
            </a:custGeom>
            <a:solidFill>
              <a:srgbClr val="3A7A85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780816" y="2414434"/>
            <a:ext cx="1207117" cy="357247"/>
            <a:chOff x="0" y="0"/>
            <a:chExt cx="1581480" cy="468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581481" cy="468032"/>
            </a:xfrm>
            <a:custGeom>
              <a:avLst/>
              <a:gdLst/>
              <a:ahLst/>
              <a:cxnLst/>
              <a:rect r="r" b="b" t="t" l="l"/>
              <a:pathLst>
                <a:path h="468032" w="1581481">
                  <a:moveTo>
                    <a:pt x="0" y="0"/>
                  </a:moveTo>
                  <a:lnTo>
                    <a:pt x="1581481" y="0"/>
                  </a:lnTo>
                  <a:lnTo>
                    <a:pt x="1581481" y="468032"/>
                  </a:lnTo>
                  <a:lnTo>
                    <a:pt x="0" y="46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51" r="7416" b="-6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581480" cy="4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79032" y="4039885"/>
            <a:ext cx="1810675" cy="392967"/>
            <a:chOff x="0" y="0"/>
            <a:chExt cx="2372221" cy="51483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72222" cy="514835"/>
            </a:xfrm>
            <a:custGeom>
              <a:avLst/>
              <a:gdLst/>
              <a:ahLst/>
              <a:cxnLst/>
              <a:rect r="r" b="b" t="t" l="l"/>
              <a:pathLst>
                <a:path h="514835" w="2372222">
                  <a:moveTo>
                    <a:pt x="0" y="0"/>
                  </a:moveTo>
                  <a:lnTo>
                    <a:pt x="2372222" y="0"/>
                  </a:lnTo>
                  <a:lnTo>
                    <a:pt x="2372222" y="514835"/>
                  </a:lnTo>
                  <a:lnTo>
                    <a:pt x="0" y="5148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017" r="7416" b="-2222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372221" cy="514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ShapeGNN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282882" y="4611470"/>
            <a:ext cx="2202985" cy="1161030"/>
            <a:chOff x="0" y="0"/>
            <a:chExt cx="2886198" cy="1521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86203" cy="1521103"/>
            </a:xfrm>
            <a:custGeom>
              <a:avLst/>
              <a:gdLst/>
              <a:ahLst/>
              <a:cxnLst/>
              <a:rect r="r" b="b" t="t" l="l"/>
              <a:pathLst>
                <a:path h="1521103" w="2886203">
                  <a:moveTo>
                    <a:pt x="0" y="0"/>
                  </a:moveTo>
                  <a:lnTo>
                    <a:pt x="2886203" y="0"/>
                  </a:lnTo>
                  <a:lnTo>
                    <a:pt x="2886203" y="1521103"/>
                  </a:lnTo>
                  <a:lnTo>
                    <a:pt x="0" y="15211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93" t="0" r="823" b="2179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886198" cy="152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Superpixel geometry</a:t>
              </a:r>
            </a:p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GNN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572758" y="2973611"/>
            <a:ext cx="715046" cy="846457"/>
            <a:chOff x="0" y="0"/>
            <a:chExt cx="936803" cy="11089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36762" cy="1108921"/>
            </a:xfrm>
            <a:custGeom>
              <a:avLst/>
              <a:gdLst/>
              <a:ahLst/>
              <a:cxnLst/>
              <a:rect r="r" b="b" t="t" l="l"/>
              <a:pathLst>
                <a:path h="1108921" w="936762">
                  <a:moveTo>
                    <a:pt x="0" y="554542"/>
                  </a:moveTo>
                  <a:cubicBezTo>
                    <a:pt x="0" y="248285"/>
                    <a:pt x="209739" y="0"/>
                    <a:pt x="468450" y="0"/>
                  </a:cubicBezTo>
                  <a:cubicBezTo>
                    <a:pt x="727160" y="0"/>
                    <a:pt x="936762" y="248285"/>
                    <a:pt x="936762" y="554542"/>
                  </a:cubicBezTo>
                  <a:cubicBezTo>
                    <a:pt x="936762" y="860798"/>
                    <a:pt x="727160" y="1108921"/>
                    <a:pt x="468450" y="1108921"/>
                  </a:cubicBezTo>
                  <a:cubicBezTo>
                    <a:pt x="209739" y="1108921"/>
                    <a:pt x="0" y="860798"/>
                    <a:pt x="0" y="554542"/>
                  </a:cubicBezTo>
                  <a:close/>
                </a:path>
              </a:pathLst>
            </a:custGeom>
            <a:solidFill>
              <a:srgbClr val="C65911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5326717" y="2414434"/>
            <a:ext cx="1207117" cy="357247"/>
            <a:chOff x="0" y="0"/>
            <a:chExt cx="1581480" cy="468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581481" cy="468032"/>
            </a:xfrm>
            <a:custGeom>
              <a:avLst/>
              <a:gdLst/>
              <a:ahLst/>
              <a:cxnLst/>
              <a:rect r="r" b="b" t="t" l="l"/>
              <a:pathLst>
                <a:path h="468032" w="1581481">
                  <a:moveTo>
                    <a:pt x="0" y="0"/>
                  </a:moveTo>
                  <a:lnTo>
                    <a:pt x="1581481" y="0"/>
                  </a:lnTo>
                  <a:lnTo>
                    <a:pt x="1581481" y="468032"/>
                  </a:lnTo>
                  <a:lnTo>
                    <a:pt x="0" y="468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51" r="7416" b="-6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581480" cy="4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59"/>
                </a:lnSpc>
              </a:pPr>
              <a:r>
                <a:rPr lang="en-US" b="true" sz="1799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2025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024943" y="3786600"/>
            <a:ext cx="1810675" cy="662788"/>
            <a:chOff x="0" y="0"/>
            <a:chExt cx="2372221" cy="86833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372222" cy="868333"/>
            </a:xfrm>
            <a:custGeom>
              <a:avLst/>
              <a:gdLst/>
              <a:ahLst/>
              <a:cxnLst/>
              <a:rect r="r" b="b" t="t" l="l"/>
              <a:pathLst>
                <a:path h="868333" w="2372222">
                  <a:moveTo>
                    <a:pt x="0" y="0"/>
                  </a:moveTo>
                  <a:lnTo>
                    <a:pt x="2372222" y="0"/>
                  </a:lnTo>
                  <a:lnTo>
                    <a:pt x="2372222" y="868333"/>
                  </a:lnTo>
                  <a:lnTo>
                    <a:pt x="0" y="868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98" r="7416" b="2753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372221" cy="868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features + GCN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828783" y="4611470"/>
            <a:ext cx="2202985" cy="1161030"/>
            <a:chOff x="0" y="0"/>
            <a:chExt cx="2886198" cy="1521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886203" cy="1521103"/>
            </a:xfrm>
            <a:custGeom>
              <a:avLst/>
              <a:gdLst/>
              <a:ahLst/>
              <a:cxnLst/>
              <a:rect r="r" b="b" t="t" l="l"/>
              <a:pathLst>
                <a:path h="1521103" w="2886203">
                  <a:moveTo>
                    <a:pt x="0" y="0"/>
                  </a:moveTo>
                  <a:lnTo>
                    <a:pt x="2886203" y="0"/>
                  </a:lnTo>
                  <a:lnTo>
                    <a:pt x="2886203" y="1521103"/>
                  </a:lnTo>
                  <a:lnTo>
                    <a:pt x="0" y="15211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93" t="0" r="823" b="2179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886198" cy="152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Learned region features</a:t>
              </a:r>
            </a:p>
            <a:p>
              <a:pPr algn="ctr">
                <a:lnSpc>
                  <a:spcPts val="1927"/>
                </a:lnSpc>
              </a:pPr>
              <a:r>
                <a:rPr lang="en-US" sz="160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graph classifier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79659" y="6257103"/>
            <a:ext cx="5187554" cy="651010"/>
            <a:chOff x="0" y="0"/>
            <a:chExt cx="5856732" cy="7349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56736" cy="734976"/>
            </a:xfrm>
            <a:custGeom>
              <a:avLst/>
              <a:gdLst/>
              <a:ahLst/>
              <a:cxnLst/>
              <a:rect r="r" b="b" t="t" l="l"/>
              <a:pathLst>
                <a:path h="734976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34976"/>
                  </a:lnTo>
                  <a:lnTo>
                    <a:pt x="0" y="734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366" r="0" b="-8017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5856732" cy="73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71"/>
                </a:lnSpc>
              </a:pPr>
              <a:r>
                <a:rPr lang="en-US" sz="2975">
                  <a:solidFill>
                    <a:srgbClr val="C659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RESEARCH GAP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64538" y="6997689"/>
            <a:ext cx="9230969" cy="1337839"/>
            <a:chOff x="0" y="0"/>
            <a:chExt cx="12739126" cy="18462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739080" cy="1846287"/>
            </a:xfrm>
            <a:custGeom>
              <a:avLst/>
              <a:gdLst/>
              <a:ahLst/>
              <a:cxnLst/>
              <a:rect r="r" b="b" t="t" l="l"/>
              <a:pathLst>
                <a:path h="1846287" w="12739080">
                  <a:moveTo>
                    <a:pt x="0" y="140663"/>
                  </a:moveTo>
                  <a:cubicBezTo>
                    <a:pt x="0" y="62947"/>
                    <a:pt x="80525" y="0"/>
                    <a:pt x="179943" y="0"/>
                  </a:cubicBezTo>
                  <a:lnTo>
                    <a:pt x="12559137" y="0"/>
                  </a:lnTo>
                  <a:cubicBezTo>
                    <a:pt x="12658554" y="0"/>
                    <a:pt x="12739080" y="62947"/>
                    <a:pt x="12739080" y="140663"/>
                  </a:cubicBezTo>
                  <a:lnTo>
                    <a:pt x="12739080" y="1705624"/>
                  </a:lnTo>
                  <a:cubicBezTo>
                    <a:pt x="12739080" y="1783340"/>
                    <a:pt x="12658554" y="1846287"/>
                    <a:pt x="12559137" y="1846287"/>
                  </a:cubicBezTo>
                  <a:lnTo>
                    <a:pt x="179943" y="1846287"/>
                  </a:lnTo>
                  <a:cubicBezTo>
                    <a:pt x="80525" y="1846287"/>
                    <a:pt x="0" y="1783340"/>
                    <a:pt x="0" y="1705624"/>
                  </a:cubicBezTo>
                  <a:close/>
                </a:path>
              </a:pathLst>
            </a:custGeom>
            <a:solidFill>
              <a:srgbClr val="F8F4EE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899340" y="6908114"/>
            <a:ext cx="8786422" cy="1516990"/>
            <a:chOff x="0" y="0"/>
            <a:chExt cx="9919843" cy="171267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919846" cy="1712673"/>
            </a:xfrm>
            <a:custGeom>
              <a:avLst/>
              <a:gdLst/>
              <a:ahLst/>
              <a:cxnLst/>
              <a:rect r="r" b="b" t="t" l="l"/>
              <a:pathLst>
                <a:path h="1712673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1712673"/>
                  </a:lnTo>
                  <a:lnTo>
                    <a:pt x="0" y="17126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440" r="0" b="-5827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9919843" cy="1712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Most image-GCN studies use natural-image regions or superpixels. MaleBin byte-images are texture-like, so there is no reliable semantic region to segment.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264369" y="6686899"/>
            <a:ext cx="3166492" cy="1563573"/>
            <a:chOff x="0" y="0"/>
            <a:chExt cx="4148518" cy="20484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48455" cy="2048428"/>
            </a:xfrm>
            <a:custGeom>
              <a:avLst/>
              <a:gdLst/>
              <a:ahLst/>
              <a:cxnLst/>
              <a:rect r="r" b="b" t="t" l="l"/>
              <a:pathLst>
                <a:path h="2048428" w="4148455">
                  <a:moveTo>
                    <a:pt x="0" y="204829"/>
                  </a:moveTo>
                  <a:cubicBezTo>
                    <a:pt x="0" y="91719"/>
                    <a:pt x="83312" y="0"/>
                    <a:pt x="186055" y="0"/>
                  </a:cubicBezTo>
                  <a:lnTo>
                    <a:pt x="3962400" y="0"/>
                  </a:lnTo>
                  <a:cubicBezTo>
                    <a:pt x="4065143" y="0"/>
                    <a:pt x="4148455" y="91719"/>
                    <a:pt x="4148455" y="204829"/>
                  </a:cubicBezTo>
                  <a:lnTo>
                    <a:pt x="4148455" y="1843599"/>
                  </a:lnTo>
                  <a:cubicBezTo>
                    <a:pt x="4148455" y="1956710"/>
                    <a:pt x="4065143" y="2048428"/>
                    <a:pt x="3962400" y="2048428"/>
                  </a:cubicBezTo>
                  <a:lnTo>
                    <a:pt x="186055" y="2048428"/>
                  </a:lnTo>
                  <a:cubicBezTo>
                    <a:pt x="83312" y="2048428"/>
                    <a:pt x="0" y="1956710"/>
                    <a:pt x="0" y="1843599"/>
                  </a:cubicBezTo>
                  <a:close/>
                </a:path>
              </a:pathLst>
            </a:custGeom>
            <a:solidFill>
              <a:srgbClr val="F0F7F3"/>
            </a:solidFill>
            <a:ln w="22878" cap="sq">
              <a:solidFill>
                <a:srgbClr val="4B8B55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0264369" y="6872796"/>
            <a:ext cx="2863817" cy="1261112"/>
            <a:chOff x="0" y="0"/>
            <a:chExt cx="3751974" cy="165222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751971" cy="1652225"/>
            </a:xfrm>
            <a:custGeom>
              <a:avLst/>
              <a:gdLst/>
              <a:ahLst/>
              <a:cxnLst/>
              <a:rect r="r" b="b" t="t" l="l"/>
              <a:pathLst>
                <a:path h="1652225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1652225"/>
                  </a:lnTo>
                  <a:lnTo>
                    <a:pt x="0" y="1652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916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751974" cy="1652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820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Natural images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820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 semantic regions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>
            <a:off x="13756866" y="7468685"/>
            <a:ext cx="73974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0" id="80"/>
          <p:cNvGrpSpPr/>
          <p:nvPr/>
        </p:nvGrpSpPr>
        <p:grpSpPr>
          <a:xfrm rot="0">
            <a:off x="14772892" y="6686899"/>
            <a:ext cx="3096649" cy="1563573"/>
            <a:chOff x="0" y="0"/>
            <a:chExt cx="4057015" cy="20484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57015" cy="2048428"/>
            </a:xfrm>
            <a:custGeom>
              <a:avLst/>
              <a:gdLst/>
              <a:ahLst/>
              <a:cxnLst/>
              <a:rect r="r" b="b" t="t" l="l"/>
              <a:pathLst>
                <a:path h="2048428" w="4057015">
                  <a:moveTo>
                    <a:pt x="0" y="204829"/>
                  </a:moveTo>
                  <a:cubicBezTo>
                    <a:pt x="0" y="91719"/>
                    <a:pt x="83312" y="0"/>
                    <a:pt x="186055" y="0"/>
                  </a:cubicBezTo>
                  <a:lnTo>
                    <a:pt x="3870960" y="0"/>
                  </a:lnTo>
                  <a:cubicBezTo>
                    <a:pt x="3973703" y="0"/>
                    <a:pt x="4057015" y="91719"/>
                    <a:pt x="4057015" y="204829"/>
                  </a:cubicBezTo>
                  <a:lnTo>
                    <a:pt x="4057015" y="1843599"/>
                  </a:lnTo>
                  <a:cubicBezTo>
                    <a:pt x="4057015" y="1956710"/>
                    <a:pt x="3973703" y="2048428"/>
                    <a:pt x="3870960" y="2048428"/>
                  </a:cubicBezTo>
                  <a:lnTo>
                    <a:pt x="186055" y="2048428"/>
                  </a:lnTo>
                  <a:cubicBezTo>
                    <a:pt x="83312" y="2048428"/>
                    <a:pt x="0" y="1956710"/>
                    <a:pt x="0" y="1843599"/>
                  </a:cubicBezTo>
                  <a:close/>
                </a:path>
              </a:pathLst>
            </a:custGeom>
            <a:solidFill>
              <a:srgbClr val="EEF4F8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4924230" y="6884264"/>
            <a:ext cx="2793964" cy="1261112"/>
            <a:chOff x="0" y="0"/>
            <a:chExt cx="3660458" cy="16522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60460" cy="1652225"/>
            </a:xfrm>
            <a:custGeom>
              <a:avLst/>
              <a:gdLst/>
              <a:ahLst/>
              <a:cxnLst/>
              <a:rect r="r" b="b" t="t" l="l"/>
              <a:pathLst>
                <a:path h="1652225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1652225"/>
                  </a:lnTo>
                  <a:lnTo>
                    <a:pt x="0" y="1652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4" t="0" r="-2604" b="916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660458" cy="16522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820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MaleBin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1820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→ fixed patch graph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438231" y="8335528"/>
            <a:ext cx="7613560" cy="922772"/>
            <a:chOff x="0" y="0"/>
            <a:chExt cx="9974758" cy="12089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974753" cy="1208945"/>
            </a:xfrm>
            <a:custGeom>
              <a:avLst/>
              <a:gdLst/>
              <a:ahLst/>
              <a:cxnLst/>
              <a:rect r="r" b="b" t="t" l="l"/>
              <a:pathLst>
                <a:path h="1208945" w="9974753">
                  <a:moveTo>
                    <a:pt x="0" y="0"/>
                  </a:moveTo>
                  <a:lnTo>
                    <a:pt x="9974753" y="0"/>
                  </a:lnTo>
                  <a:lnTo>
                    <a:pt x="9974753" y="1208945"/>
                  </a:lnTo>
                  <a:lnTo>
                    <a:pt x="0" y="12089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349" r="0" b="-10618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9974758" cy="1218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0E2A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Our focus: test whether a simple, leakage-free patch graph still adds useful relational information.</a:t>
              </a:r>
            </a:p>
          </p:txBody>
        </p:sp>
      </p:grpSp>
      <p:sp>
        <p:nvSpPr>
          <p:cNvPr name="AutoShape 88" id="88"/>
          <p:cNvSpPr/>
          <p:nvPr/>
        </p:nvSpPr>
        <p:spPr>
          <a:xfrm>
            <a:off x="679659" y="9711884"/>
            <a:ext cx="16087217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0">
            <a:off x="17278991" y="9419423"/>
            <a:ext cx="590550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384353"/>
            <a:ext cx="14962127" cy="925352"/>
            <a:chOff x="0" y="0"/>
            <a:chExt cx="19949503" cy="1233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233808"/>
            </a:xfrm>
            <a:custGeom>
              <a:avLst/>
              <a:gdLst/>
              <a:ahLst/>
              <a:cxnLst/>
              <a:rect r="r" b="b" t="t" l="l"/>
              <a:pathLst>
                <a:path h="123380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233808"/>
                  </a:lnTo>
                  <a:lnTo>
                    <a:pt x="0" y="1233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095" r="0" b="-24101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949503" cy="1243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Complete project methodology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5446" y="1197726"/>
            <a:ext cx="1289139" cy="90120"/>
            <a:chOff x="0" y="0"/>
            <a:chExt cx="167262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590" cy="116967"/>
            </a:xfrm>
            <a:custGeom>
              <a:avLst/>
              <a:gdLst/>
              <a:ahLst/>
              <a:cxnLst/>
              <a:rect r="r" b="b" t="t" l="l"/>
              <a:pathLst>
                <a:path h="116967" w="1672590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81309" y="1392980"/>
            <a:ext cx="15923000" cy="511374"/>
            <a:chOff x="0" y="0"/>
            <a:chExt cx="21230666" cy="681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0667" cy="681837"/>
            </a:xfrm>
            <a:custGeom>
              <a:avLst/>
              <a:gdLst/>
              <a:ahLst/>
              <a:cxnLst/>
              <a:rect r="r" b="b" t="t" l="l"/>
              <a:pathLst>
                <a:path h="68183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681837"/>
                  </a:lnTo>
                  <a:lnTo>
                    <a:pt x="0" y="681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476" r="0" b="-5429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30666" cy="681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232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work moves from data understanding to an honest final evaluation.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6779" y="2294879"/>
            <a:ext cx="2150516" cy="873938"/>
            <a:chOff x="0" y="0"/>
            <a:chExt cx="2867355" cy="1165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67406" cy="1165225"/>
            </a:xfrm>
            <a:custGeom>
              <a:avLst/>
              <a:gdLst/>
              <a:ahLst/>
              <a:cxnLst/>
              <a:rect r="r" b="b" t="t" l="l"/>
              <a:pathLst>
                <a:path h="1165225" w="2867406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2679446" y="0"/>
                  </a:lnTo>
                  <a:cubicBezTo>
                    <a:pt x="2783205" y="0"/>
                    <a:pt x="2867406" y="84201"/>
                    <a:pt x="2867406" y="187960"/>
                  </a:cubicBezTo>
                  <a:lnTo>
                    <a:pt x="2867406" y="977265"/>
                  </a:lnTo>
                  <a:cubicBezTo>
                    <a:pt x="2867406" y="1081024"/>
                    <a:pt x="2783205" y="1165225"/>
                    <a:pt x="2679446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5484" y="2471035"/>
            <a:ext cx="1853108" cy="748052"/>
            <a:chOff x="0" y="0"/>
            <a:chExt cx="2470810" cy="9974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70810" cy="997395"/>
            </a:xfrm>
            <a:custGeom>
              <a:avLst/>
              <a:gdLst/>
              <a:ahLst/>
              <a:cxnLst/>
              <a:rect r="r" b="b" t="t" l="l"/>
              <a:pathLst>
                <a:path h="99739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997395"/>
                  </a:lnTo>
                  <a:lnTo>
                    <a:pt x="0" y="9973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9" r="0" b="113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470810" cy="987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MaleBin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dataset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3257296" y="2714688"/>
            <a:ext cx="406560" cy="0"/>
          </a:xfrm>
          <a:prstGeom prst="line">
            <a:avLst/>
          </a:prstGeom>
          <a:ln cap="rnd" w="76200">
            <a:solidFill>
              <a:srgbClr val="1F4E7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3663856" y="2277719"/>
            <a:ext cx="2150516" cy="873938"/>
            <a:chOff x="0" y="0"/>
            <a:chExt cx="2867355" cy="1165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67406" cy="1165225"/>
            </a:xfrm>
            <a:custGeom>
              <a:avLst/>
              <a:gdLst/>
              <a:ahLst/>
              <a:cxnLst/>
              <a:rect r="r" b="b" t="t" l="l"/>
              <a:pathLst>
                <a:path h="1165225" w="2867406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2679446" y="0"/>
                  </a:lnTo>
                  <a:cubicBezTo>
                    <a:pt x="2783205" y="0"/>
                    <a:pt x="2867406" y="84201"/>
                    <a:pt x="2867406" y="187960"/>
                  </a:cubicBezTo>
                  <a:lnTo>
                    <a:pt x="2867406" y="977265"/>
                  </a:lnTo>
                  <a:cubicBezTo>
                    <a:pt x="2867406" y="1081024"/>
                    <a:pt x="2783205" y="1165225"/>
                    <a:pt x="2679446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3A7A8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781199" y="2471035"/>
            <a:ext cx="1853108" cy="603976"/>
            <a:chOff x="0" y="0"/>
            <a:chExt cx="2470810" cy="805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70810" cy="805295"/>
            </a:xfrm>
            <a:custGeom>
              <a:avLst/>
              <a:gdLst/>
              <a:ahLst/>
              <a:cxnLst/>
              <a:rect r="r" b="b" t="t" l="l"/>
              <a:pathLst>
                <a:path h="80529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805295"/>
                  </a:lnTo>
                  <a:lnTo>
                    <a:pt x="0" y="805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83" r="0" b="-97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470810" cy="7957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EDA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5747494" y="2719446"/>
            <a:ext cx="410717" cy="12402"/>
          </a:xfrm>
          <a:prstGeom prst="line">
            <a:avLst/>
          </a:prstGeom>
          <a:ln cap="rnd" w="76200">
            <a:solidFill>
              <a:srgbClr val="3A7A8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6158211" y="2294879"/>
            <a:ext cx="2150516" cy="873938"/>
            <a:chOff x="0" y="0"/>
            <a:chExt cx="2867355" cy="1165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67406" cy="1165225"/>
            </a:xfrm>
            <a:custGeom>
              <a:avLst/>
              <a:gdLst/>
              <a:ahLst/>
              <a:cxnLst/>
              <a:rect r="r" b="b" t="t" l="l"/>
              <a:pathLst>
                <a:path h="1165225" w="2867406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2679446" y="0"/>
                  </a:lnTo>
                  <a:cubicBezTo>
                    <a:pt x="2783205" y="0"/>
                    <a:pt x="2867406" y="84201"/>
                    <a:pt x="2867406" y="187960"/>
                  </a:cubicBezTo>
                  <a:lnTo>
                    <a:pt x="2867406" y="977265"/>
                  </a:lnTo>
                  <a:cubicBezTo>
                    <a:pt x="2867406" y="1081024"/>
                    <a:pt x="2783205" y="1165225"/>
                    <a:pt x="2679446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306915" y="2471035"/>
            <a:ext cx="1853108" cy="748052"/>
            <a:chOff x="0" y="0"/>
            <a:chExt cx="2470810" cy="9974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70810" cy="997395"/>
            </a:xfrm>
            <a:custGeom>
              <a:avLst/>
              <a:gdLst/>
              <a:ahLst/>
              <a:cxnLst/>
              <a:rect r="r" b="b" t="t" l="l"/>
              <a:pathLst>
                <a:path h="99739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997395"/>
                  </a:lnTo>
                  <a:lnTo>
                    <a:pt x="0" y="9973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9" r="0" b="1135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470810" cy="987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Duplicate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control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394710" y="2719446"/>
            <a:ext cx="324734" cy="12402"/>
          </a:xfrm>
          <a:prstGeom prst="line">
            <a:avLst/>
          </a:prstGeom>
          <a:ln cap="rnd" w="76200">
            <a:solidFill>
              <a:srgbClr val="C6591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8683926" y="2294879"/>
            <a:ext cx="2150516" cy="873938"/>
            <a:chOff x="0" y="0"/>
            <a:chExt cx="2867355" cy="1165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67406" cy="1165225"/>
            </a:xfrm>
            <a:custGeom>
              <a:avLst/>
              <a:gdLst/>
              <a:ahLst/>
              <a:cxnLst/>
              <a:rect r="r" b="b" t="t" l="l"/>
              <a:pathLst>
                <a:path h="1165225" w="2867406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2679446" y="0"/>
                  </a:lnTo>
                  <a:cubicBezTo>
                    <a:pt x="2783205" y="0"/>
                    <a:pt x="2867406" y="84201"/>
                    <a:pt x="2867406" y="187960"/>
                  </a:cubicBezTo>
                  <a:lnTo>
                    <a:pt x="2867406" y="977265"/>
                  </a:lnTo>
                  <a:cubicBezTo>
                    <a:pt x="2867406" y="1081024"/>
                    <a:pt x="2783205" y="1165225"/>
                    <a:pt x="2679446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3A7A8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832631" y="2471035"/>
            <a:ext cx="1853108" cy="748052"/>
            <a:chOff x="0" y="0"/>
            <a:chExt cx="2470810" cy="9974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70810" cy="997395"/>
            </a:xfrm>
            <a:custGeom>
              <a:avLst/>
              <a:gdLst/>
              <a:ahLst/>
              <a:cxnLst/>
              <a:rect r="r" b="b" t="t" l="l"/>
              <a:pathLst>
                <a:path h="99739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997395"/>
                  </a:lnTo>
                  <a:lnTo>
                    <a:pt x="0" y="9973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9" r="0" b="1135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2470810" cy="987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70/15/15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split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9791091" y="3343602"/>
            <a:ext cx="12386" cy="683665"/>
          </a:xfrm>
          <a:prstGeom prst="line">
            <a:avLst/>
          </a:prstGeom>
          <a:ln cap="rnd" w="7620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3343278" y="4378783"/>
            <a:ext cx="4209526" cy="1203379"/>
            <a:chOff x="0" y="0"/>
            <a:chExt cx="5612702" cy="16045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12638" cy="1604518"/>
            </a:xfrm>
            <a:custGeom>
              <a:avLst/>
              <a:gdLst/>
              <a:ahLst/>
              <a:cxnLst/>
              <a:rect r="r" b="b" t="t" l="l"/>
              <a:pathLst>
                <a:path h="1604518" w="5612638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5426075" y="0"/>
                  </a:lnTo>
                  <a:cubicBezTo>
                    <a:pt x="5529072" y="0"/>
                    <a:pt x="5612638" y="83566"/>
                    <a:pt x="5612638" y="186563"/>
                  </a:cubicBezTo>
                  <a:lnTo>
                    <a:pt x="5612638" y="1417955"/>
                  </a:lnTo>
                  <a:cubicBezTo>
                    <a:pt x="5612638" y="1520952"/>
                    <a:pt x="5529072" y="1604518"/>
                    <a:pt x="5426075" y="1604518"/>
                  </a:cubicBezTo>
                  <a:lnTo>
                    <a:pt x="186563" y="1604518"/>
                  </a:lnTo>
                  <a:cubicBezTo>
                    <a:pt x="83566" y="1604518"/>
                    <a:pt x="0" y="1520952"/>
                    <a:pt x="0" y="1417955"/>
                  </a:cubicBezTo>
                  <a:close/>
                </a:path>
              </a:pathLst>
            </a:custGeom>
            <a:solidFill>
              <a:srgbClr val="EEF4F8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491983" y="4554948"/>
            <a:ext cx="3912118" cy="1052852"/>
            <a:chOff x="0" y="0"/>
            <a:chExt cx="5216157" cy="14038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6155" cy="1403796"/>
            </a:xfrm>
            <a:custGeom>
              <a:avLst/>
              <a:gdLst/>
              <a:ahLst/>
              <a:cxnLst/>
              <a:rect r="r" b="b" t="t" l="l"/>
              <a:pathLst>
                <a:path h="1403796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403796"/>
                  </a:lnTo>
                  <a:lnTo>
                    <a:pt x="0" y="1403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73" r="0" b="-1672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5216157" cy="1394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CNN baselines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(SimpleCNN, ResNet18, MobileNetV3)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08504" y="4378783"/>
            <a:ext cx="4209526" cy="1203379"/>
            <a:chOff x="0" y="0"/>
            <a:chExt cx="5612702" cy="16045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612638" cy="1604518"/>
            </a:xfrm>
            <a:custGeom>
              <a:avLst/>
              <a:gdLst/>
              <a:ahLst/>
              <a:cxnLst/>
              <a:rect r="r" b="b" t="t" l="l"/>
              <a:pathLst>
                <a:path h="1604518" w="5612638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5426075" y="0"/>
                  </a:lnTo>
                  <a:cubicBezTo>
                    <a:pt x="5529072" y="0"/>
                    <a:pt x="5612638" y="83566"/>
                    <a:pt x="5612638" y="186563"/>
                  </a:cubicBezTo>
                  <a:lnTo>
                    <a:pt x="5612638" y="1417955"/>
                  </a:lnTo>
                  <a:cubicBezTo>
                    <a:pt x="5612638" y="1520952"/>
                    <a:pt x="5529072" y="1604518"/>
                    <a:pt x="5426075" y="1604518"/>
                  </a:cubicBezTo>
                  <a:lnTo>
                    <a:pt x="186563" y="1604518"/>
                  </a:lnTo>
                  <a:cubicBezTo>
                    <a:pt x="83566" y="1604518"/>
                    <a:pt x="0" y="1520952"/>
                    <a:pt x="0" y="1417955"/>
                  </a:cubicBezTo>
                  <a:close/>
                </a:path>
              </a:pathLst>
            </a:custGeom>
            <a:solidFill>
              <a:srgbClr val="F7F3ED"/>
            </a:solidFill>
            <a:ln w="22878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257208" y="4554948"/>
            <a:ext cx="3912118" cy="933417"/>
            <a:chOff x="0" y="0"/>
            <a:chExt cx="5216157" cy="12445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16155" cy="1244551"/>
            </a:xfrm>
            <a:custGeom>
              <a:avLst/>
              <a:gdLst/>
              <a:ahLst/>
              <a:cxnLst/>
              <a:rect r="r" b="b" t="t" l="l"/>
              <a:pathLst>
                <a:path h="1244551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244551"/>
                  </a:lnTo>
                  <a:lnTo>
                    <a:pt x="0" y="12445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65" r="0" b="-316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5216157" cy="12350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First PatchGCN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(6 statistical features/node)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>
            <a:off x="10371368" y="5588329"/>
            <a:ext cx="24780" cy="848392"/>
          </a:xfrm>
          <a:prstGeom prst="line">
            <a:avLst/>
          </a:prstGeom>
          <a:ln cap="rnd" w="76200">
            <a:solidFill>
              <a:srgbClr val="C6591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7146534" y="6591340"/>
            <a:ext cx="4209526" cy="1203379"/>
            <a:chOff x="0" y="0"/>
            <a:chExt cx="5612702" cy="160450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12638" cy="1604518"/>
            </a:xfrm>
            <a:custGeom>
              <a:avLst/>
              <a:gdLst/>
              <a:ahLst/>
              <a:cxnLst/>
              <a:rect r="r" b="b" t="t" l="l"/>
              <a:pathLst>
                <a:path h="1604518" w="5612638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5426075" y="0"/>
                  </a:lnTo>
                  <a:cubicBezTo>
                    <a:pt x="5529072" y="0"/>
                    <a:pt x="5612638" y="83566"/>
                    <a:pt x="5612638" y="186563"/>
                  </a:cubicBezTo>
                  <a:lnTo>
                    <a:pt x="5612638" y="1417955"/>
                  </a:lnTo>
                  <a:cubicBezTo>
                    <a:pt x="5612638" y="1520952"/>
                    <a:pt x="5529072" y="1604518"/>
                    <a:pt x="5426075" y="1604518"/>
                  </a:cubicBezTo>
                  <a:lnTo>
                    <a:pt x="186563" y="1604518"/>
                  </a:lnTo>
                  <a:cubicBezTo>
                    <a:pt x="83566" y="1604518"/>
                    <a:pt x="0" y="1520952"/>
                    <a:pt x="0" y="1417955"/>
                  </a:cubicBezTo>
                  <a:close/>
                </a:path>
              </a:pathLst>
            </a:custGeom>
            <a:solidFill>
              <a:srgbClr val="F0F7F3"/>
            </a:solidFill>
            <a:ln w="22878" cap="sq">
              <a:solidFill>
                <a:srgbClr val="4B8B55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295239" y="6767496"/>
            <a:ext cx="3912118" cy="933417"/>
            <a:chOff x="0" y="0"/>
            <a:chExt cx="5216157" cy="12445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6155" cy="1244551"/>
            </a:xfrm>
            <a:custGeom>
              <a:avLst/>
              <a:gdLst/>
              <a:ahLst/>
              <a:cxnLst/>
              <a:rect r="r" b="b" t="t" l="l"/>
              <a:pathLst>
                <a:path h="1244551" w="5216155">
                  <a:moveTo>
                    <a:pt x="0" y="0"/>
                  </a:moveTo>
                  <a:lnTo>
                    <a:pt x="5216155" y="0"/>
                  </a:lnTo>
                  <a:lnTo>
                    <a:pt x="5216155" y="1244551"/>
                  </a:lnTo>
                  <a:lnTo>
                    <a:pt x="0" y="12445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65" r="0" b="-3166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5216157" cy="12350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Improved CNN-feature GCN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(128 learned features/node)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11532411" y="7163490"/>
            <a:ext cx="848392" cy="24780"/>
          </a:xfrm>
          <a:prstGeom prst="line">
            <a:avLst/>
          </a:prstGeom>
          <a:ln cap="rnd" w="76200">
            <a:solidFill>
              <a:srgbClr val="4B8B5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12632790" y="6606711"/>
            <a:ext cx="2356418" cy="1203379"/>
            <a:chOff x="0" y="0"/>
            <a:chExt cx="3141891" cy="160450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41853" cy="1604518"/>
            </a:xfrm>
            <a:custGeom>
              <a:avLst/>
              <a:gdLst/>
              <a:ahLst/>
              <a:cxnLst/>
              <a:rect r="r" b="b" t="t" l="l"/>
              <a:pathLst>
                <a:path h="1604518" w="3141853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2955290" y="0"/>
                  </a:lnTo>
                  <a:cubicBezTo>
                    <a:pt x="3058287" y="0"/>
                    <a:pt x="3141853" y="83566"/>
                    <a:pt x="3141853" y="186563"/>
                  </a:cubicBezTo>
                  <a:lnTo>
                    <a:pt x="3141853" y="1417955"/>
                  </a:lnTo>
                  <a:cubicBezTo>
                    <a:pt x="3141853" y="1520952"/>
                    <a:pt x="3058287" y="1604518"/>
                    <a:pt x="2955290" y="1604518"/>
                  </a:cubicBezTo>
                  <a:lnTo>
                    <a:pt x="186563" y="1604518"/>
                  </a:lnTo>
                  <a:cubicBezTo>
                    <a:pt x="83566" y="1604518"/>
                    <a:pt x="0" y="1520952"/>
                    <a:pt x="0" y="141795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3A7A8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781494" y="6782867"/>
            <a:ext cx="2059010" cy="933417"/>
            <a:chOff x="0" y="0"/>
            <a:chExt cx="2745346" cy="12445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45345" cy="1244551"/>
            </a:xfrm>
            <a:custGeom>
              <a:avLst/>
              <a:gdLst/>
              <a:ahLst/>
              <a:cxnLst/>
              <a:rect r="r" b="b" t="t" l="l"/>
              <a:pathLst>
                <a:path h="1244551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1244551"/>
                  </a:lnTo>
                  <a:lnTo>
                    <a:pt x="0" y="12445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64" t="0" r="-816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745346" cy="1244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Ablation + CV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significance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15161985" y="7133947"/>
            <a:ext cx="711124" cy="24783"/>
          </a:xfrm>
          <a:prstGeom prst="line">
            <a:avLst/>
          </a:prstGeom>
          <a:ln cap="rnd" w="76200">
            <a:solidFill>
              <a:srgbClr val="3A7A8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15972818" y="6591340"/>
            <a:ext cx="1999493" cy="1203379"/>
            <a:chOff x="0" y="0"/>
            <a:chExt cx="2665991" cy="160450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65975" cy="1604518"/>
            </a:xfrm>
            <a:custGeom>
              <a:avLst/>
              <a:gdLst/>
              <a:ahLst/>
              <a:cxnLst/>
              <a:rect r="r" b="b" t="t" l="l"/>
              <a:pathLst>
                <a:path h="1604518" w="2665975">
                  <a:moveTo>
                    <a:pt x="0" y="186563"/>
                  </a:moveTo>
                  <a:cubicBezTo>
                    <a:pt x="0" y="83566"/>
                    <a:pt x="104337" y="0"/>
                    <a:pt x="232934" y="0"/>
                  </a:cubicBezTo>
                  <a:lnTo>
                    <a:pt x="2433042" y="0"/>
                  </a:lnTo>
                  <a:cubicBezTo>
                    <a:pt x="2561639" y="0"/>
                    <a:pt x="2665975" y="83566"/>
                    <a:pt x="2665975" y="186563"/>
                  </a:cubicBezTo>
                  <a:lnTo>
                    <a:pt x="2665975" y="1417955"/>
                  </a:lnTo>
                  <a:cubicBezTo>
                    <a:pt x="2665975" y="1520952"/>
                    <a:pt x="2561639" y="1604518"/>
                    <a:pt x="2433042" y="1604518"/>
                  </a:cubicBezTo>
                  <a:lnTo>
                    <a:pt x="232934" y="1604518"/>
                  </a:lnTo>
                  <a:cubicBezTo>
                    <a:pt x="104337" y="1604518"/>
                    <a:pt x="0" y="1520952"/>
                    <a:pt x="0" y="1417955"/>
                  </a:cubicBezTo>
                  <a:close/>
                </a:path>
              </a:pathLst>
            </a:custGeom>
            <a:solidFill>
              <a:srgbClr val="F8F4EE"/>
            </a:solidFill>
            <a:ln w="22878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6014122" y="6767496"/>
            <a:ext cx="1850789" cy="933417"/>
            <a:chOff x="0" y="0"/>
            <a:chExt cx="2467719" cy="12445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67718" cy="1244551"/>
            </a:xfrm>
            <a:custGeom>
              <a:avLst/>
              <a:gdLst/>
              <a:ahLst/>
              <a:cxnLst/>
              <a:rect r="r" b="b" t="t" l="l"/>
              <a:pathLst>
                <a:path h="1244551" w="2467718">
                  <a:moveTo>
                    <a:pt x="0" y="0"/>
                  </a:moveTo>
                  <a:lnTo>
                    <a:pt x="2467718" y="0"/>
                  </a:lnTo>
                  <a:lnTo>
                    <a:pt x="2467718" y="1244551"/>
                  </a:lnTo>
                  <a:lnTo>
                    <a:pt x="0" y="12445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78" t="0" r="6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467719" cy="1244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XAI + final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interpretation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8315" y="8257765"/>
            <a:ext cx="15960985" cy="1010077"/>
            <a:chOff x="0" y="0"/>
            <a:chExt cx="21154403" cy="133873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1154389" cy="1338688"/>
            </a:xfrm>
            <a:custGeom>
              <a:avLst/>
              <a:gdLst/>
              <a:ahLst/>
              <a:cxnLst/>
              <a:rect r="r" b="b" t="t" l="l"/>
              <a:pathLst>
                <a:path h="1338688" w="21154389">
                  <a:moveTo>
                    <a:pt x="0" y="194664"/>
                  </a:moveTo>
                  <a:cubicBezTo>
                    <a:pt x="0" y="87183"/>
                    <a:pt x="66548" y="0"/>
                    <a:pt x="148590" y="0"/>
                  </a:cubicBezTo>
                  <a:lnTo>
                    <a:pt x="21005800" y="0"/>
                  </a:lnTo>
                  <a:cubicBezTo>
                    <a:pt x="21087842" y="0"/>
                    <a:pt x="21154389" y="87183"/>
                    <a:pt x="21154389" y="194664"/>
                  </a:cubicBezTo>
                  <a:lnTo>
                    <a:pt x="21154389" y="1144025"/>
                  </a:lnTo>
                  <a:cubicBezTo>
                    <a:pt x="21154389" y="1251506"/>
                    <a:pt x="21087842" y="1338688"/>
                    <a:pt x="21005800" y="1338688"/>
                  </a:cubicBezTo>
                  <a:lnTo>
                    <a:pt x="148590" y="1338688"/>
                  </a:lnTo>
                  <a:cubicBezTo>
                    <a:pt x="66548" y="1338688"/>
                    <a:pt x="0" y="1251506"/>
                    <a:pt x="0" y="1144025"/>
                  </a:cubicBezTo>
                  <a:close/>
                </a:path>
              </a:pathLst>
            </a:custGeom>
            <a:solidFill>
              <a:srgbClr val="F2F7FB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496216" y="8428206"/>
            <a:ext cx="15470019" cy="839637"/>
            <a:chOff x="0" y="0"/>
            <a:chExt cx="20626692" cy="111951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626691" cy="1119521"/>
            </a:xfrm>
            <a:custGeom>
              <a:avLst/>
              <a:gdLst/>
              <a:ahLst/>
              <a:cxnLst/>
              <a:rect r="r" b="b" t="t" l="l"/>
              <a:pathLst>
                <a:path h="1119521" w="20626691">
                  <a:moveTo>
                    <a:pt x="0" y="0"/>
                  </a:moveTo>
                  <a:lnTo>
                    <a:pt x="20626691" y="0"/>
                  </a:lnTo>
                  <a:lnTo>
                    <a:pt x="20626691" y="1119521"/>
                  </a:lnTo>
                  <a:lnTo>
                    <a:pt x="0" y="1119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394" r="0" b="-28761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0626692" cy="112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1"/>
                </a:lnSpc>
              </a:pPr>
              <a:r>
                <a:rPr lang="en-US" sz="2251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Principle: compare models on the same leakage-controlled split and report what actually happened, even when the GCN does not beat the strongest CNN.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flipV="true">
            <a:off x="679659" y="9711884"/>
            <a:ext cx="16286576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0">
            <a:off x="17283621" y="9419423"/>
            <a:ext cx="581290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384353"/>
            <a:ext cx="14962127" cy="967592"/>
            <a:chOff x="0" y="0"/>
            <a:chExt cx="19949503" cy="1290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290128"/>
            </a:xfrm>
            <a:custGeom>
              <a:avLst/>
              <a:gdLst/>
              <a:ahLst/>
              <a:cxnLst/>
              <a:rect r="r" b="b" t="t" l="l"/>
              <a:pathLst>
                <a:path h="129012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290128"/>
                  </a:lnTo>
                  <a:lnTo>
                    <a:pt x="0" y="1290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474" r="0" b="-226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949503" cy="1290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3"/>
                </a:lnSpc>
              </a:pPr>
              <a:r>
                <a:rPr lang="en-US" sz="4403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Task 2: CNN baselines and first PatchGCN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3934" y="1167051"/>
            <a:ext cx="1254471" cy="87697"/>
            <a:chOff x="0" y="0"/>
            <a:chExt cx="167262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590" cy="116967"/>
            </a:xfrm>
            <a:custGeom>
              <a:avLst/>
              <a:gdLst/>
              <a:ahLst/>
              <a:cxnLst/>
              <a:rect r="r" b="b" t="t" l="l"/>
              <a:pathLst>
                <a:path h="116967" w="1672590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971" y="1351945"/>
            <a:ext cx="15923000" cy="527732"/>
            <a:chOff x="0" y="0"/>
            <a:chExt cx="21230666" cy="7036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0667" cy="703647"/>
            </a:xfrm>
            <a:custGeom>
              <a:avLst/>
              <a:gdLst/>
              <a:ahLst/>
              <a:cxnLst/>
              <a:rect r="r" b="b" t="t" l="l"/>
              <a:pathLst>
                <a:path h="70364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703647"/>
                  </a:lnTo>
                  <a:lnTo>
                    <a:pt x="0" y="7036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794" r="0" b="-52302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230666" cy="713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1"/>
                </a:lnSpc>
              </a:pPr>
              <a:r>
                <a:rPr lang="en-US" sz="2426">
                  <a:solidFill>
                    <a:srgbClr val="5D6573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first graph model used simple patch statistics and became the baseline to improve.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518" y="1629832"/>
            <a:ext cx="8486178" cy="5854886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9132750" y="2005346"/>
            <a:ext cx="5950631" cy="525690"/>
            <a:chOff x="0" y="0"/>
            <a:chExt cx="5856732" cy="5173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6736" cy="517386"/>
            </a:xfrm>
            <a:custGeom>
              <a:avLst/>
              <a:gdLst/>
              <a:ahLst/>
              <a:cxnLst/>
              <a:rect r="r" b="b" t="t" l="l"/>
              <a:pathLst>
                <a:path h="517386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517386"/>
                  </a:lnTo>
                  <a:lnTo>
                    <a:pt x="0" y="5173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92" r="0" b="-15594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856732" cy="5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1"/>
                </a:lnSpc>
              </a:pPr>
              <a:r>
                <a:rPr lang="en-US" sz="2175">
                  <a:solidFill>
                    <a:srgbClr val="C659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FIRST PATCHGCN CONSTRUCTION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048198" y="2768698"/>
            <a:ext cx="1464183" cy="873938"/>
            <a:chOff x="0" y="0"/>
            <a:chExt cx="1952244" cy="1165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2244" cy="1165225"/>
            </a:xfrm>
            <a:custGeom>
              <a:avLst/>
              <a:gdLst/>
              <a:ahLst/>
              <a:cxnLst/>
              <a:rect r="r" b="b" t="t" l="l"/>
              <a:pathLst>
                <a:path h="1165225" w="1952244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1764284" y="0"/>
                  </a:lnTo>
                  <a:cubicBezTo>
                    <a:pt x="1868043" y="0"/>
                    <a:pt x="1952244" y="84201"/>
                    <a:pt x="1952244" y="187960"/>
                  </a:cubicBezTo>
                  <a:lnTo>
                    <a:pt x="1952244" y="977265"/>
                  </a:lnTo>
                  <a:cubicBezTo>
                    <a:pt x="1952244" y="1081024"/>
                    <a:pt x="1868043" y="1165225"/>
                    <a:pt x="1764284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196902" y="2944854"/>
            <a:ext cx="1166774" cy="746331"/>
            <a:chOff x="0" y="0"/>
            <a:chExt cx="1555699" cy="9951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5695" cy="995101"/>
            </a:xfrm>
            <a:custGeom>
              <a:avLst/>
              <a:gdLst/>
              <a:ahLst/>
              <a:cxnLst/>
              <a:rect r="r" b="b" t="t" l="l"/>
              <a:pathLst>
                <a:path h="995101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995101"/>
                  </a:lnTo>
                  <a:lnTo>
                    <a:pt x="0" y="995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416" t="0" r="-16416" b="1907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555699" cy="100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128×128</a:t>
              </a:r>
            </a:p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image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584635" y="3193273"/>
            <a:ext cx="477770" cy="24788"/>
          </a:xfrm>
          <a:prstGeom prst="line">
            <a:avLst/>
          </a:prstGeom>
          <a:ln cap="rnd" w="76200">
            <a:solidFill>
              <a:srgbClr val="1F4E7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1134658" y="2768698"/>
            <a:ext cx="1642634" cy="873938"/>
            <a:chOff x="0" y="0"/>
            <a:chExt cx="2190178" cy="1165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0242" cy="1165225"/>
            </a:xfrm>
            <a:custGeom>
              <a:avLst/>
              <a:gdLst/>
              <a:ahLst/>
              <a:cxnLst/>
              <a:rect r="r" b="b" t="t" l="l"/>
              <a:pathLst>
                <a:path h="1165225" w="2190242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2002282" y="0"/>
                  </a:lnTo>
                  <a:cubicBezTo>
                    <a:pt x="2106041" y="0"/>
                    <a:pt x="2190242" y="84201"/>
                    <a:pt x="2190242" y="187960"/>
                  </a:cubicBezTo>
                  <a:lnTo>
                    <a:pt x="2190242" y="977265"/>
                  </a:lnTo>
                  <a:cubicBezTo>
                    <a:pt x="2190242" y="1081024"/>
                    <a:pt x="2106041" y="1165225"/>
                    <a:pt x="2002282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283363" y="2944854"/>
            <a:ext cx="1345216" cy="746331"/>
            <a:chOff x="0" y="0"/>
            <a:chExt cx="1793621" cy="9951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93625" cy="995101"/>
            </a:xfrm>
            <a:custGeom>
              <a:avLst/>
              <a:gdLst/>
              <a:ahLst/>
              <a:cxnLst/>
              <a:rect r="r" b="b" t="t" l="l"/>
              <a:pathLst>
                <a:path h="995101" w="1793625">
                  <a:moveTo>
                    <a:pt x="0" y="0"/>
                  </a:moveTo>
                  <a:lnTo>
                    <a:pt x="1793625" y="0"/>
                  </a:lnTo>
                  <a:lnTo>
                    <a:pt x="1793625" y="995101"/>
                  </a:lnTo>
                  <a:lnTo>
                    <a:pt x="0" y="995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06" t="0" r="-7605" b="190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793621" cy="100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8×8 grid</a:t>
              </a:r>
            </a:p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64 nodes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2849548" y="3193277"/>
            <a:ext cx="505218" cy="24780"/>
          </a:xfrm>
          <a:prstGeom prst="line">
            <a:avLst/>
          </a:prstGeom>
          <a:ln cap="rnd" w="76200">
            <a:solidFill>
              <a:srgbClr val="1F4E7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13440747" y="2768698"/>
            <a:ext cx="1642634" cy="873938"/>
            <a:chOff x="0" y="0"/>
            <a:chExt cx="2190178" cy="1165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0242" cy="1165225"/>
            </a:xfrm>
            <a:custGeom>
              <a:avLst/>
              <a:gdLst/>
              <a:ahLst/>
              <a:cxnLst/>
              <a:rect r="r" b="b" t="t" l="l"/>
              <a:pathLst>
                <a:path h="1165225" w="2190242">
                  <a:moveTo>
                    <a:pt x="0" y="187960"/>
                  </a:moveTo>
                  <a:cubicBezTo>
                    <a:pt x="0" y="84201"/>
                    <a:pt x="84201" y="0"/>
                    <a:pt x="187960" y="0"/>
                  </a:cubicBezTo>
                  <a:lnTo>
                    <a:pt x="2002282" y="0"/>
                  </a:lnTo>
                  <a:cubicBezTo>
                    <a:pt x="2106041" y="0"/>
                    <a:pt x="2190242" y="84201"/>
                    <a:pt x="2190242" y="187960"/>
                  </a:cubicBezTo>
                  <a:lnTo>
                    <a:pt x="2190242" y="977265"/>
                  </a:lnTo>
                  <a:cubicBezTo>
                    <a:pt x="2190242" y="1081024"/>
                    <a:pt x="2106041" y="1165225"/>
                    <a:pt x="2002282" y="1165225"/>
                  </a:cubicBezTo>
                  <a:lnTo>
                    <a:pt x="187960" y="1165225"/>
                  </a:lnTo>
                  <a:cubicBezTo>
                    <a:pt x="84201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589460" y="2944854"/>
            <a:ext cx="1345216" cy="746331"/>
            <a:chOff x="0" y="0"/>
            <a:chExt cx="1793621" cy="9951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93625" cy="995101"/>
            </a:xfrm>
            <a:custGeom>
              <a:avLst/>
              <a:gdLst/>
              <a:ahLst/>
              <a:cxnLst/>
              <a:rect r="r" b="b" t="t" l="l"/>
              <a:pathLst>
                <a:path h="995101" w="1793625">
                  <a:moveTo>
                    <a:pt x="0" y="0"/>
                  </a:moveTo>
                  <a:lnTo>
                    <a:pt x="1793625" y="0"/>
                  </a:lnTo>
                  <a:lnTo>
                    <a:pt x="1793625" y="995101"/>
                  </a:lnTo>
                  <a:lnTo>
                    <a:pt x="0" y="995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06" t="0" r="-7605" b="1907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793621" cy="100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 features</a:t>
              </a:r>
            </a:p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 node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5155635" y="3193273"/>
            <a:ext cx="477770" cy="24788"/>
          </a:xfrm>
          <a:prstGeom prst="line">
            <a:avLst/>
          </a:prstGeom>
          <a:ln cap="rnd" w="76200">
            <a:solidFill>
              <a:srgbClr val="1F4E7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2" id="32"/>
          <p:cNvGrpSpPr/>
          <p:nvPr/>
        </p:nvGrpSpPr>
        <p:grpSpPr>
          <a:xfrm rot="0">
            <a:off x="15705658" y="2768698"/>
            <a:ext cx="1868608" cy="873938"/>
            <a:chOff x="0" y="0"/>
            <a:chExt cx="2491477" cy="1165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91430" cy="1165225"/>
            </a:xfrm>
            <a:custGeom>
              <a:avLst/>
              <a:gdLst/>
              <a:ahLst/>
              <a:cxnLst/>
              <a:rect r="r" b="b" t="t" l="l"/>
              <a:pathLst>
                <a:path h="1165225" w="2491430">
                  <a:moveTo>
                    <a:pt x="0" y="187960"/>
                  </a:moveTo>
                  <a:cubicBezTo>
                    <a:pt x="0" y="84201"/>
                    <a:pt x="104519" y="0"/>
                    <a:pt x="233315" y="0"/>
                  </a:cubicBezTo>
                  <a:lnTo>
                    <a:pt x="2258115" y="0"/>
                  </a:lnTo>
                  <a:cubicBezTo>
                    <a:pt x="2386911" y="0"/>
                    <a:pt x="2491430" y="84201"/>
                    <a:pt x="2491430" y="187960"/>
                  </a:cubicBezTo>
                  <a:lnTo>
                    <a:pt x="2491430" y="977265"/>
                  </a:lnTo>
                  <a:cubicBezTo>
                    <a:pt x="2491430" y="1081024"/>
                    <a:pt x="2386911" y="1165225"/>
                    <a:pt x="2258115" y="1165225"/>
                  </a:cubicBezTo>
                  <a:lnTo>
                    <a:pt x="233315" y="1165225"/>
                  </a:lnTo>
                  <a:cubicBezTo>
                    <a:pt x="104519" y="1165225"/>
                    <a:pt x="0" y="1081151"/>
                    <a:pt x="0" y="977265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852726" y="2896305"/>
            <a:ext cx="1653451" cy="746331"/>
            <a:chOff x="0" y="0"/>
            <a:chExt cx="2204601" cy="9951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04602" cy="995101"/>
            </a:xfrm>
            <a:custGeom>
              <a:avLst/>
              <a:gdLst/>
              <a:ahLst/>
              <a:cxnLst/>
              <a:rect r="r" b="b" t="t" l="l"/>
              <a:pathLst>
                <a:path h="995101" w="2204602">
                  <a:moveTo>
                    <a:pt x="0" y="0"/>
                  </a:moveTo>
                  <a:lnTo>
                    <a:pt x="2204602" y="0"/>
                  </a:lnTo>
                  <a:lnTo>
                    <a:pt x="2204602" y="995101"/>
                  </a:lnTo>
                  <a:lnTo>
                    <a:pt x="0" y="995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39" t="0" r="16604" b="1907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204601" cy="100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4-neighbor</a:t>
              </a:r>
            </a:p>
            <a:p>
              <a:pPr algn="ctr">
                <a:lnSpc>
                  <a:spcPts val="2401"/>
                </a:lnSpc>
              </a:pPr>
              <a:r>
                <a:rPr lang="en-US" sz="200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edges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69151" y="4292666"/>
            <a:ext cx="3828424" cy="3268575"/>
            <a:chOff x="0" y="0"/>
            <a:chExt cx="4484065" cy="3828339"/>
          </a:xfrm>
        </p:grpSpPr>
        <p:sp>
          <p:nvSpPr>
            <p:cNvPr name="Freeform 38" id="38" descr="/mnt/data/final_ppt_assets/t2_p4_img1.jpeg"/>
            <p:cNvSpPr/>
            <p:nvPr/>
          </p:nvSpPr>
          <p:spPr>
            <a:xfrm flipH="false" flipV="false" rot="0">
              <a:off x="0" y="0"/>
              <a:ext cx="4484116" cy="3828288"/>
            </a:xfrm>
            <a:custGeom>
              <a:avLst/>
              <a:gdLst/>
              <a:ahLst/>
              <a:cxnLst/>
              <a:rect r="r" b="b" t="t" l="l"/>
              <a:pathLst>
                <a:path h="3828288" w="4484116">
                  <a:moveTo>
                    <a:pt x="0" y="0"/>
                  </a:moveTo>
                  <a:lnTo>
                    <a:pt x="4484116" y="0"/>
                  </a:lnTo>
                  <a:lnTo>
                    <a:pt x="4484116" y="3828288"/>
                  </a:lnTo>
                  <a:lnTo>
                    <a:pt x="0" y="382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525299" y="5330688"/>
            <a:ext cx="4049382" cy="1192530"/>
            <a:chOff x="0" y="0"/>
            <a:chExt cx="5399176" cy="1590040"/>
          </a:xfrm>
        </p:grpSpPr>
        <p:sp>
          <p:nvSpPr>
            <p:cNvPr name="Freeform 40" id="40" descr="/mnt/data/final_ppt_assets/t2_p4_img2.jpeg"/>
            <p:cNvSpPr/>
            <p:nvPr/>
          </p:nvSpPr>
          <p:spPr>
            <a:xfrm flipH="false" flipV="false" rot="0">
              <a:off x="0" y="0"/>
              <a:ext cx="5399151" cy="1590040"/>
            </a:xfrm>
            <a:custGeom>
              <a:avLst/>
              <a:gdLst/>
              <a:ahLst/>
              <a:cxnLst/>
              <a:rect r="r" b="b" t="t" l="l"/>
              <a:pathLst>
                <a:path h="1590040" w="5399151">
                  <a:moveTo>
                    <a:pt x="0" y="0"/>
                  </a:moveTo>
                  <a:lnTo>
                    <a:pt x="5399151" y="0"/>
                  </a:lnTo>
                  <a:lnTo>
                    <a:pt x="5399151" y="1590040"/>
                  </a:lnTo>
                  <a:lnTo>
                    <a:pt x="0" y="1590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2785" y="8317559"/>
            <a:ext cx="16071704" cy="1080892"/>
            <a:chOff x="0" y="0"/>
            <a:chExt cx="21428939" cy="14411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28965" cy="1441190"/>
            </a:xfrm>
            <a:custGeom>
              <a:avLst/>
              <a:gdLst/>
              <a:ahLst/>
              <a:cxnLst/>
              <a:rect r="r" b="b" t="t" l="l"/>
              <a:pathLst>
                <a:path h="1441190" w="21428965">
                  <a:moveTo>
                    <a:pt x="0" y="164760"/>
                  </a:moveTo>
                  <a:cubicBezTo>
                    <a:pt x="0" y="73697"/>
                    <a:pt x="66294" y="0"/>
                    <a:pt x="148209" y="0"/>
                  </a:cubicBezTo>
                  <a:lnTo>
                    <a:pt x="21280755" y="0"/>
                  </a:lnTo>
                  <a:cubicBezTo>
                    <a:pt x="21362544" y="0"/>
                    <a:pt x="21428965" y="73697"/>
                    <a:pt x="21428965" y="164760"/>
                  </a:cubicBezTo>
                  <a:lnTo>
                    <a:pt x="21428965" y="1276430"/>
                  </a:lnTo>
                  <a:cubicBezTo>
                    <a:pt x="21428965" y="1367351"/>
                    <a:pt x="21362670" y="1441190"/>
                    <a:pt x="21280755" y="1441190"/>
                  </a:cubicBezTo>
                  <a:lnTo>
                    <a:pt x="148209" y="1441190"/>
                  </a:lnTo>
                  <a:cubicBezTo>
                    <a:pt x="66294" y="1441190"/>
                    <a:pt x="0" y="1367492"/>
                    <a:pt x="0" y="1276430"/>
                  </a:cubicBezTo>
                  <a:close/>
                </a:path>
              </a:pathLst>
            </a:custGeom>
            <a:solidFill>
              <a:srgbClr val="F7F3ED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40677" y="8488000"/>
            <a:ext cx="15675921" cy="910452"/>
            <a:chOff x="0" y="0"/>
            <a:chExt cx="20901228" cy="12139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901225" cy="1213940"/>
            </a:xfrm>
            <a:custGeom>
              <a:avLst/>
              <a:gdLst/>
              <a:ahLst/>
              <a:cxnLst/>
              <a:rect r="r" b="b" t="t" l="l"/>
              <a:pathLst>
                <a:path h="1213940" w="20901225">
                  <a:moveTo>
                    <a:pt x="0" y="0"/>
                  </a:moveTo>
                  <a:lnTo>
                    <a:pt x="20901225" y="0"/>
                  </a:lnTo>
                  <a:lnTo>
                    <a:pt x="20901225" y="1213940"/>
                  </a:lnTo>
                  <a:lnTo>
                    <a:pt x="0" y="1213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795" r="0" b="-2731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0901228" cy="1213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1"/>
                </a:lnSpc>
              </a:pPr>
              <a:r>
                <a:rPr lang="en-US" sz="245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Main Task 2 finding: ResNet18 was the strongest baseline. The first PatchGCN was compact, but six statistics per patch lost too much discriminative texture.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679659" y="9711884"/>
            <a:ext cx="16217939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17273104" y="9419423"/>
            <a:ext cx="602324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58489">
                <a:alpha val="100000"/>
              </a:srgbClr>
            </a:gs>
            <a:gs pos="25000">
              <a:srgbClr val="E7E4EF">
                <a:alpha val="100000"/>
              </a:srgbClr>
            </a:gs>
            <a:gs pos="50000">
              <a:srgbClr val="858489">
                <a:alpha val="100000"/>
              </a:srgbClr>
            </a:gs>
            <a:gs pos="75000">
              <a:srgbClr val="B9B9B9">
                <a:alpha val="100000"/>
              </a:srgbClr>
            </a:gs>
            <a:gs pos="100000">
              <a:srgbClr val="85848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384353"/>
            <a:ext cx="14962127" cy="941710"/>
            <a:chOff x="0" y="0"/>
            <a:chExt cx="19949503" cy="12556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255618"/>
            </a:xfrm>
            <a:custGeom>
              <a:avLst/>
              <a:gdLst/>
              <a:ahLst/>
              <a:cxnLst/>
              <a:rect r="r" b="b" t="t" l="l"/>
              <a:pathLst>
                <a:path h="125561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255618"/>
                  </a:lnTo>
                  <a:lnTo>
                    <a:pt x="0" y="1255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73" r="0" b="-2350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949503" cy="12556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63"/>
                </a:lnSpc>
              </a:pPr>
              <a:r>
                <a:rPr lang="en-US" sz="4303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Task 3: Improved CNN-feature GCN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5436" y="1033701"/>
            <a:ext cx="1254471" cy="87697"/>
            <a:chOff x="0" y="0"/>
            <a:chExt cx="167262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590" cy="116967"/>
            </a:xfrm>
            <a:custGeom>
              <a:avLst/>
              <a:gdLst/>
              <a:ahLst/>
              <a:cxnLst/>
              <a:rect r="r" b="b" t="t" l="l"/>
              <a:pathLst>
                <a:path h="116967" w="1672590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4971" y="1653451"/>
            <a:ext cx="15923000" cy="934614"/>
            <a:chOff x="0" y="0"/>
            <a:chExt cx="21230666" cy="12461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0667" cy="1246157"/>
            </a:xfrm>
            <a:custGeom>
              <a:avLst/>
              <a:gdLst/>
              <a:ahLst/>
              <a:cxnLst/>
              <a:rect r="r" b="b" t="t" l="l"/>
              <a:pathLst>
                <a:path h="124615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1246157"/>
                  </a:lnTo>
                  <a:lnTo>
                    <a:pt x="0" y="1246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137" r="0" b="-2517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230666" cy="125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1"/>
                </a:lnSpc>
              </a:pPr>
              <a:r>
                <a:rPr lang="en-US" sz="252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main upgrade was changing node features from handcrafted statistics to learned CNN vectors.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5436" y="3046875"/>
            <a:ext cx="1738722" cy="928840"/>
            <a:chOff x="0" y="0"/>
            <a:chExt cx="2318296" cy="12384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8385" cy="1238504"/>
            </a:xfrm>
            <a:custGeom>
              <a:avLst/>
              <a:gdLst/>
              <a:ahLst/>
              <a:cxnLst/>
              <a:rect r="r" b="b" t="t" l="l"/>
              <a:pathLst>
                <a:path h="1238504" w="2318385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2130679" y="0"/>
                  </a:lnTo>
                  <a:cubicBezTo>
                    <a:pt x="2234311" y="0"/>
                    <a:pt x="2318385" y="84074"/>
                    <a:pt x="2318385" y="187706"/>
                  </a:cubicBezTo>
                  <a:lnTo>
                    <a:pt x="2318385" y="1050798"/>
                  </a:lnTo>
                  <a:cubicBezTo>
                    <a:pt x="2318385" y="1154430"/>
                    <a:pt x="2234311" y="1238504"/>
                    <a:pt x="2130679" y="1238504"/>
                  </a:cubicBezTo>
                  <a:lnTo>
                    <a:pt x="187706" y="1238504"/>
                  </a:lnTo>
                  <a:cubicBezTo>
                    <a:pt x="84074" y="1238504"/>
                    <a:pt x="0" y="1154430"/>
                    <a:pt x="0" y="1050798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94140" y="3223030"/>
            <a:ext cx="1441304" cy="725577"/>
            <a:chOff x="0" y="0"/>
            <a:chExt cx="1921739" cy="9674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741" cy="967437"/>
            </a:xfrm>
            <a:custGeom>
              <a:avLst/>
              <a:gdLst/>
              <a:ahLst/>
              <a:cxnLst/>
              <a:rect r="r" b="b" t="t" l="l"/>
              <a:pathLst>
                <a:path h="967437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967437"/>
                  </a:lnTo>
                  <a:lnTo>
                    <a:pt x="0" y="967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919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1739" cy="9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128×128</a:t>
              </a:r>
            </a:p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grayscale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2484158" y="3498903"/>
            <a:ext cx="489273" cy="24784"/>
          </a:xfrm>
          <a:prstGeom prst="line">
            <a:avLst/>
          </a:prstGeom>
          <a:ln cap="rnd" w="7620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3128886" y="3046875"/>
            <a:ext cx="2150516" cy="928840"/>
            <a:chOff x="0" y="0"/>
            <a:chExt cx="2867355" cy="1238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67406" cy="1238504"/>
            </a:xfrm>
            <a:custGeom>
              <a:avLst/>
              <a:gdLst/>
              <a:ahLst/>
              <a:cxnLst/>
              <a:rect r="r" b="b" t="t" l="l"/>
              <a:pathLst>
                <a:path h="1238504" w="2867406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2679700" y="0"/>
                  </a:lnTo>
                  <a:cubicBezTo>
                    <a:pt x="2783332" y="0"/>
                    <a:pt x="2867406" y="84074"/>
                    <a:pt x="2867406" y="187706"/>
                  </a:cubicBezTo>
                  <a:lnTo>
                    <a:pt x="2867406" y="1050798"/>
                  </a:lnTo>
                  <a:cubicBezTo>
                    <a:pt x="2867406" y="1154430"/>
                    <a:pt x="2783332" y="1238504"/>
                    <a:pt x="2679700" y="1238504"/>
                  </a:cubicBezTo>
                  <a:lnTo>
                    <a:pt x="187706" y="1238504"/>
                  </a:lnTo>
                  <a:cubicBezTo>
                    <a:pt x="84074" y="1238504"/>
                    <a:pt x="0" y="1154430"/>
                    <a:pt x="0" y="1050798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3A7A8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156193" y="3223030"/>
            <a:ext cx="2168014" cy="725577"/>
            <a:chOff x="0" y="0"/>
            <a:chExt cx="2890685" cy="9674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90685" cy="967437"/>
            </a:xfrm>
            <a:custGeom>
              <a:avLst/>
              <a:gdLst/>
              <a:ahLst/>
              <a:cxnLst/>
              <a:rect r="r" b="b" t="t" l="l"/>
              <a:pathLst>
                <a:path h="967437" w="2890685">
                  <a:moveTo>
                    <a:pt x="0" y="0"/>
                  </a:moveTo>
                  <a:lnTo>
                    <a:pt x="2890685" y="0"/>
                  </a:lnTo>
                  <a:lnTo>
                    <a:pt x="2890685" y="967437"/>
                  </a:lnTo>
                  <a:lnTo>
                    <a:pt x="0" y="967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0" r="14525" b="483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890685" cy="9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CNN backbone</a:t>
              </a:r>
            </a:p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32→64→128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5324207" y="3498905"/>
            <a:ext cx="505218" cy="24780"/>
          </a:xfrm>
          <a:prstGeom prst="line">
            <a:avLst/>
          </a:prstGeom>
          <a:ln cap="rnd" w="9525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5874229" y="3046875"/>
            <a:ext cx="2630957" cy="928840"/>
            <a:chOff x="0" y="0"/>
            <a:chExt cx="3507943" cy="12384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07994" cy="1238504"/>
            </a:xfrm>
            <a:custGeom>
              <a:avLst/>
              <a:gdLst/>
              <a:ahLst/>
              <a:cxnLst/>
              <a:rect r="r" b="b" t="t" l="l"/>
              <a:pathLst>
                <a:path h="1238504" w="3507994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3320288" y="0"/>
                  </a:lnTo>
                  <a:cubicBezTo>
                    <a:pt x="3423920" y="0"/>
                    <a:pt x="3507994" y="84074"/>
                    <a:pt x="3507994" y="187706"/>
                  </a:cubicBezTo>
                  <a:lnTo>
                    <a:pt x="3507994" y="1050798"/>
                  </a:lnTo>
                  <a:cubicBezTo>
                    <a:pt x="3507994" y="1154430"/>
                    <a:pt x="3423920" y="1238504"/>
                    <a:pt x="3320288" y="1238504"/>
                  </a:cubicBezTo>
                  <a:lnTo>
                    <a:pt x="187706" y="1238504"/>
                  </a:lnTo>
                  <a:cubicBezTo>
                    <a:pt x="84074" y="1238504"/>
                    <a:pt x="0" y="1154430"/>
                    <a:pt x="0" y="1050798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022938" y="3136116"/>
            <a:ext cx="2333539" cy="725577"/>
            <a:chOff x="0" y="0"/>
            <a:chExt cx="3111386" cy="9674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11391" cy="967437"/>
            </a:xfrm>
            <a:custGeom>
              <a:avLst/>
              <a:gdLst/>
              <a:ahLst/>
              <a:cxnLst/>
              <a:rect r="r" b="b" t="t" l="l"/>
              <a:pathLst>
                <a:path h="967437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967437"/>
                  </a:lnTo>
                  <a:lnTo>
                    <a:pt x="0" y="967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2" r="0" b="-807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111386" cy="9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8×8 feature map</a:t>
              </a:r>
            </a:p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64 nodes × 128-D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549993" y="3498903"/>
            <a:ext cx="573851" cy="24784"/>
          </a:xfrm>
          <a:prstGeom prst="line">
            <a:avLst/>
          </a:prstGeom>
          <a:ln cap="rnd" w="7620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9168651" y="3046875"/>
            <a:ext cx="2425055" cy="928840"/>
            <a:chOff x="0" y="0"/>
            <a:chExt cx="3233407" cy="12384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33420" cy="1238504"/>
            </a:xfrm>
            <a:custGeom>
              <a:avLst/>
              <a:gdLst/>
              <a:ahLst/>
              <a:cxnLst/>
              <a:rect r="r" b="b" t="t" l="l"/>
              <a:pathLst>
                <a:path h="1238504" w="3233420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3045714" y="0"/>
                  </a:lnTo>
                  <a:cubicBezTo>
                    <a:pt x="3149346" y="0"/>
                    <a:pt x="3233420" y="84074"/>
                    <a:pt x="3233420" y="187706"/>
                  </a:cubicBezTo>
                  <a:lnTo>
                    <a:pt x="3233420" y="1050798"/>
                  </a:lnTo>
                  <a:cubicBezTo>
                    <a:pt x="3233420" y="1154430"/>
                    <a:pt x="3149346" y="1238504"/>
                    <a:pt x="3045714" y="1238504"/>
                  </a:cubicBezTo>
                  <a:lnTo>
                    <a:pt x="187706" y="1238504"/>
                  </a:lnTo>
                  <a:cubicBezTo>
                    <a:pt x="84074" y="1238504"/>
                    <a:pt x="0" y="1154430"/>
                    <a:pt x="0" y="1050798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3A7A8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095737" y="3223030"/>
            <a:ext cx="2593397" cy="725577"/>
            <a:chOff x="0" y="0"/>
            <a:chExt cx="3457862" cy="9674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57855" cy="967437"/>
            </a:xfrm>
            <a:custGeom>
              <a:avLst/>
              <a:gdLst/>
              <a:ahLst/>
              <a:cxnLst/>
              <a:rect r="r" b="b" t="t" l="l"/>
              <a:pathLst>
                <a:path h="967437" w="3457855">
                  <a:moveTo>
                    <a:pt x="0" y="0"/>
                  </a:moveTo>
                  <a:lnTo>
                    <a:pt x="3457855" y="0"/>
                  </a:lnTo>
                  <a:lnTo>
                    <a:pt x="3457855" y="967437"/>
                  </a:lnTo>
                  <a:lnTo>
                    <a:pt x="0" y="967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2" r="17958" b="-25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457862" cy="9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4-neighbor graph</a:t>
              </a:r>
            </a:p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self-loops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1638501" y="3498903"/>
            <a:ext cx="436590" cy="24784"/>
          </a:xfrm>
          <a:prstGeom prst="line">
            <a:avLst/>
          </a:prstGeom>
          <a:ln cap="rnd" w="7620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4" id="34"/>
          <p:cNvGrpSpPr/>
          <p:nvPr/>
        </p:nvGrpSpPr>
        <p:grpSpPr>
          <a:xfrm rot="0">
            <a:off x="12119896" y="3046875"/>
            <a:ext cx="2150516" cy="928840"/>
            <a:chOff x="0" y="0"/>
            <a:chExt cx="2867355" cy="12384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67406" cy="1238504"/>
            </a:xfrm>
            <a:custGeom>
              <a:avLst/>
              <a:gdLst/>
              <a:ahLst/>
              <a:cxnLst/>
              <a:rect r="r" b="b" t="t" l="l"/>
              <a:pathLst>
                <a:path h="1238504" w="2867406">
                  <a:moveTo>
                    <a:pt x="0" y="187706"/>
                  </a:moveTo>
                  <a:cubicBezTo>
                    <a:pt x="0" y="84074"/>
                    <a:pt x="84074" y="0"/>
                    <a:pt x="187706" y="0"/>
                  </a:cubicBezTo>
                  <a:lnTo>
                    <a:pt x="2679700" y="0"/>
                  </a:lnTo>
                  <a:cubicBezTo>
                    <a:pt x="2783332" y="0"/>
                    <a:pt x="2867406" y="84074"/>
                    <a:pt x="2867406" y="187706"/>
                  </a:cubicBezTo>
                  <a:lnTo>
                    <a:pt x="2867406" y="1050798"/>
                  </a:lnTo>
                  <a:cubicBezTo>
                    <a:pt x="2867406" y="1154430"/>
                    <a:pt x="2783332" y="1238504"/>
                    <a:pt x="2679700" y="1238504"/>
                  </a:cubicBezTo>
                  <a:lnTo>
                    <a:pt x="187706" y="1238504"/>
                  </a:lnTo>
                  <a:cubicBezTo>
                    <a:pt x="84074" y="1238504"/>
                    <a:pt x="0" y="1154430"/>
                    <a:pt x="0" y="1050798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268600" y="3223030"/>
            <a:ext cx="1853108" cy="725577"/>
            <a:chOff x="0" y="0"/>
            <a:chExt cx="2470810" cy="9674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967437"/>
            </a:xfrm>
            <a:custGeom>
              <a:avLst/>
              <a:gdLst/>
              <a:ahLst/>
              <a:cxnLst/>
              <a:rect r="r" b="b" t="t" l="l"/>
              <a:pathLst>
                <a:path h="967437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967437"/>
                  </a:lnTo>
                  <a:lnTo>
                    <a:pt x="0" y="967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0" r="0" b="483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9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 GCN layers</a:t>
              </a:r>
            </a:p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+ residual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14315215" y="3498901"/>
            <a:ext cx="477770" cy="24788"/>
          </a:xfrm>
          <a:prstGeom prst="line">
            <a:avLst/>
          </a:prstGeom>
          <a:ln cap="rnd" w="7620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14840857" y="3059269"/>
            <a:ext cx="2729889" cy="928840"/>
            <a:chOff x="0" y="0"/>
            <a:chExt cx="3639852" cy="12384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39966" cy="1238504"/>
            </a:xfrm>
            <a:custGeom>
              <a:avLst/>
              <a:gdLst/>
              <a:ahLst/>
              <a:cxnLst/>
              <a:rect r="r" b="b" t="t" l="l"/>
              <a:pathLst>
                <a:path h="1238504" w="3639966">
                  <a:moveTo>
                    <a:pt x="0" y="187706"/>
                  </a:moveTo>
                  <a:cubicBezTo>
                    <a:pt x="0" y="84074"/>
                    <a:pt x="110243" y="0"/>
                    <a:pt x="246131" y="0"/>
                  </a:cubicBezTo>
                  <a:lnTo>
                    <a:pt x="3393871" y="0"/>
                  </a:lnTo>
                  <a:cubicBezTo>
                    <a:pt x="3529759" y="0"/>
                    <a:pt x="3639966" y="84074"/>
                    <a:pt x="3639966" y="187706"/>
                  </a:cubicBezTo>
                  <a:lnTo>
                    <a:pt x="3639966" y="1050798"/>
                  </a:lnTo>
                  <a:cubicBezTo>
                    <a:pt x="3639966" y="1154430"/>
                    <a:pt x="3529759" y="1238504"/>
                    <a:pt x="3393871" y="1238504"/>
                  </a:cubicBezTo>
                  <a:lnTo>
                    <a:pt x="246131" y="1238504"/>
                  </a:lnTo>
                  <a:cubicBezTo>
                    <a:pt x="110243" y="1238504"/>
                    <a:pt x="0" y="1154430"/>
                    <a:pt x="0" y="1050798"/>
                  </a:cubicBezTo>
                  <a:close/>
                </a:path>
              </a:pathLst>
            </a:custGeom>
            <a:solidFill>
              <a:srgbClr val="F7FAFC"/>
            </a:solidFill>
            <a:ln w="22878" cap="sq">
              <a:solidFill>
                <a:srgbClr val="4B8B5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5043875" y="3250137"/>
            <a:ext cx="2323852" cy="725577"/>
            <a:chOff x="0" y="0"/>
            <a:chExt cx="3098469" cy="9674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98474" cy="967437"/>
            </a:xfrm>
            <a:custGeom>
              <a:avLst/>
              <a:gdLst/>
              <a:ahLst/>
              <a:cxnLst/>
              <a:rect r="r" b="b" t="t" l="l"/>
              <a:pathLst>
                <a:path h="967437" w="3098474">
                  <a:moveTo>
                    <a:pt x="0" y="0"/>
                  </a:moveTo>
                  <a:lnTo>
                    <a:pt x="3098474" y="0"/>
                  </a:lnTo>
                  <a:lnTo>
                    <a:pt x="3098474" y="967437"/>
                  </a:lnTo>
                  <a:lnTo>
                    <a:pt x="0" y="967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7" r="23210" b="66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098469" cy="967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Mean + max pool</a:t>
              </a:r>
            </a:p>
            <a:p>
              <a:pPr algn="ctr">
                <a:lnSpc>
                  <a:spcPts val="2371"/>
                </a:lnSpc>
              </a:pPr>
              <a:r>
                <a:rPr lang="en-US" sz="19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35 classes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18581" y="4774157"/>
            <a:ext cx="4392549" cy="362164"/>
            <a:chOff x="0" y="0"/>
            <a:chExt cx="5856732" cy="48288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6736" cy="482877"/>
            </a:xfrm>
            <a:custGeom>
              <a:avLst/>
              <a:gdLst/>
              <a:ahLst/>
              <a:cxnLst/>
              <a:rect r="r" b="b" t="t" l="l"/>
              <a:pathLst>
                <a:path h="482877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482877"/>
                  </a:lnTo>
                  <a:lnTo>
                    <a:pt x="0" y="4828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27" r="0" b="-1742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856732" cy="482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1"/>
                </a:lnSpc>
              </a:pPr>
              <a:r>
                <a:rPr lang="en-US" sz="1675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CHANGED FROM TASK 2?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07151" y="5215698"/>
            <a:ext cx="4140898" cy="1093565"/>
            <a:chOff x="0" y="0"/>
            <a:chExt cx="5521198" cy="145808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21198" cy="1458087"/>
            </a:xfrm>
            <a:custGeom>
              <a:avLst/>
              <a:gdLst/>
              <a:ahLst/>
              <a:cxnLst/>
              <a:rect r="r" b="b" t="t" l="l"/>
              <a:pathLst>
                <a:path h="1458087" w="5521198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5334254" y="0"/>
                  </a:lnTo>
                  <a:cubicBezTo>
                    <a:pt x="5437505" y="0"/>
                    <a:pt x="5521198" y="83693"/>
                    <a:pt x="5521198" y="186944"/>
                  </a:cubicBezTo>
                  <a:lnTo>
                    <a:pt x="5521198" y="1271143"/>
                  </a:lnTo>
                  <a:cubicBezTo>
                    <a:pt x="5521198" y="1374394"/>
                    <a:pt x="5437505" y="1458087"/>
                    <a:pt x="5334254" y="1458087"/>
                  </a:cubicBezTo>
                  <a:lnTo>
                    <a:pt x="186944" y="1458087"/>
                  </a:lnTo>
                  <a:cubicBezTo>
                    <a:pt x="83693" y="1458087"/>
                    <a:pt x="0" y="1374394"/>
                    <a:pt x="0" y="1271143"/>
                  </a:cubicBezTo>
                  <a:close/>
                </a:path>
              </a:pathLst>
            </a:custGeom>
            <a:solidFill>
              <a:srgbClr val="F8F4EE"/>
            </a:solidFill>
            <a:ln w="22878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51177" y="5215698"/>
            <a:ext cx="3843480" cy="1184241"/>
            <a:chOff x="0" y="0"/>
            <a:chExt cx="5124640" cy="15789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4644" cy="1578980"/>
            </a:xfrm>
            <a:custGeom>
              <a:avLst/>
              <a:gdLst/>
              <a:ahLst/>
              <a:cxnLst/>
              <a:rect r="r" b="b" t="t" l="l"/>
              <a:pathLst>
                <a:path h="1578980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1578980"/>
                  </a:lnTo>
                  <a:lnTo>
                    <a:pt x="0" y="1578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65" r="0" b="198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124640" cy="1588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1"/>
                </a:lnSpc>
              </a:pPr>
              <a:r>
                <a:rPr lang="en-US" sz="22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Task 2</a:t>
              </a:r>
            </a:p>
            <a:p>
              <a:pPr algn="ctr">
                <a:lnSpc>
                  <a:spcPts val="2731"/>
                </a:lnSpc>
              </a:pPr>
              <a:r>
                <a:rPr lang="en-US" sz="22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6 handcrafted statistics / node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5557565" y="5750092"/>
            <a:ext cx="985659" cy="24778"/>
          </a:xfrm>
          <a:prstGeom prst="line">
            <a:avLst/>
          </a:prstGeom>
          <a:ln cap="rnd" w="76200">
            <a:solidFill>
              <a:srgbClr val="5D65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6656651" y="5215698"/>
            <a:ext cx="4484065" cy="1093565"/>
            <a:chOff x="0" y="0"/>
            <a:chExt cx="5978754" cy="145808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978779" cy="1458087"/>
            </a:xfrm>
            <a:custGeom>
              <a:avLst/>
              <a:gdLst/>
              <a:ahLst/>
              <a:cxnLst/>
              <a:rect r="r" b="b" t="t" l="l"/>
              <a:pathLst>
                <a:path h="1458087" w="5978779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5791835" y="0"/>
                  </a:lnTo>
                  <a:cubicBezTo>
                    <a:pt x="5895086" y="0"/>
                    <a:pt x="5978779" y="83693"/>
                    <a:pt x="5978779" y="186944"/>
                  </a:cubicBezTo>
                  <a:lnTo>
                    <a:pt x="5978779" y="1271143"/>
                  </a:lnTo>
                  <a:cubicBezTo>
                    <a:pt x="5978779" y="1374394"/>
                    <a:pt x="5895086" y="1458087"/>
                    <a:pt x="5791835" y="1458087"/>
                  </a:cubicBezTo>
                  <a:lnTo>
                    <a:pt x="186944" y="1458087"/>
                  </a:lnTo>
                  <a:cubicBezTo>
                    <a:pt x="83693" y="1458087"/>
                    <a:pt x="0" y="1374394"/>
                    <a:pt x="0" y="1271143"/>
                  </a:cubicBezTo>
                  <a:close/>
                </a:path>
              </a:pathLst>
            </a:custGeom>
            <a:solidFill>
              <a:srgbClr val="F0F7F3"/>
            </a:solidFill>
            <a:ln w="22878" cap="sq">
              <a:solidFill>
                <a:srgbClr val="4B8B5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906131" y="5215698"/>
            <a:ext cx="3943647" cy="1184241"/>
            <a:chOff x="0" y="0"/>
            <a:chExt cx="5258196" cy="15789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58201" cy="1578980"/>
            </a:xfrm>
            <a:custGeom>
              <a:avLst/>
              <a:gdLst/>
              <a:ahLst/>
              <a:cxnLst/>
              <a:rect r="r" b="b" t="t" l="l"/>
              <a:pathLst>
                <a:path h="1578980" w="5258201">
                  <a:moveTo>
                    <a:pt x="0" y="0"/>
                  </a:moveTo>
                  <a:lnTo>
                    <a:pt x="5258201" y="0"/>
                  </a:lnTo>
                  <a:lnTo>
                    <a:pt x="5258201" y="1578980"/>
                  </a:lnTo>
                  <a:lnTo>
                    <a:pt x="0" y="15789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11" r="-6161" b="-365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5258196" cy="15885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31"/>
                </a:lnSpc>
              </a:pPr>
              <a:r>
                <a:rPr lang="en-US" sz="22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Task 3</a:t>
              </a:r>
            </a:p>
            <a:p>
              <a:pPr algn="ctr">
                <a:lnSpc>
                  <a:spcPts val="2731"/>
                </a:lnSpc>
              </a:pPr>
              <a:r>
                <a:rPr lang="en-US" sz="22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128 learned CNN features / node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131335" y="4913670"/>
            <a:ext cx="4735716" cy="2068230"/>
            <a:chOff x="0" y="0"/>
            <a:chExt cx="6314288" cy="2757640"/>
          </a:xfrm>
        </p:grpSpPr>
        <p:sp>
          <p:nvSpPr>
            <p:cNvPr name="Freeform 60" id="60" descr="/mnt/data/final_ppt_assets/t3_p3_img2.png"/>
            <p:cNvSpPr/>
            <p:nvPr/>
          </p:nvSpPr>
          <p:spPr>
            <a:xfrm flipH="false" flipV="false" rot="0">
              <a:off x="0" y="0"/>
              <a:ext cx="6314313" cy="2757678"/>
            </a:xfrm>
            <a:custGeom>
              <a:avLst/>
              <a:gdLst/>
              <a:ahLst/>
              <a:cxnLst/>
              <a:rect r="r" b="b" t="t" l="l"/>
              <a:pathLst>
                <a:path h="2757678" w="6314313">
                  <a:moveTo>
                    <a:pt x="0" y="0"/>
                  </a:moveTo>
                  <a:lnTo>
                    <a:pt x="6314313" y="0"/>
                  </a:lnTo>
                  <a:lnTo>
                    <a:pt x="6314313" y="2757678"/>
                  </a:lnTo>
                  <a:lnTo>
                    <a:pt x="0" y="2757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131335" y="7080245"/>
            <a:ext cx="4735716" cy="701399"/>
            <a:chOff x="0" y="0"/>
            <a:chExt cx="6314288" cy="93519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314293" cy="935200"/>
            </a:xfrm>
            <a:custGeom>
              <a:avLst/>
              <a:gdLst/>
              <a:ahLst/>
              <a:cxnLst/>
              <a:rect r="r" b="b" t="t" l="l"/>
              <a:pathLst>
                <a:path h="935200" w="6314293">
                  <a:moveTo>
                    <a:pt x="0" y="0"/>
                  </a:moveTo>
                  <a:lnTo>
                    <a:pt x="6314293" y="0"/>
                  </a:lnTo>
                  <a:lnTo>
                    <a:pt x="6314293" y="935200"/>
                  </a:lnTo>
                  <a:lnTo>
                    <a:pt x="0" y="93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096" r="0" b="-5602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6314288" cy="92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1"/>
                </a:lnSpc>
              </a:pPr>
              <a:r>
                <a:rPr lang="en-US" sz="1901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Ablation tested 4-neighbor vs weighted 8-neighbor graphs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18070" y="8444176"/>
            <a:ext cx="15248106" cy="1141138"/>
            <a:chOff x="0" y="0"/>
            <a:chExt cx="20330808" cy="15215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330922" cy="1521594"/>
            </a:xfrm>
            <a:custGeom>
              <a:avLst/>
              <a:gdLst/>
              <a:ahLst/>
              <a:cxnLst/>
              <a:rect r="r" b="b" t="t" l="l"/>
              <a:pathLst>
                <a:path h="1521594" w="20330922">
                  <a:moveTo>
                    <a:pt x="0" y="187315"/>
                  </a:moveTo>
                  <a:cubicBezTo>
                    <a:pt x="0" y="83875"/>
                    <a:pt x="66421" y="0"/>
                    <a:pt x="148336" y="0"/>
                  </a:cubicBezTo>
                  <a:lnTo>
                    <a:pt x="20182587" y="0"/>
                  </a:lnTo>
                  <a:cubicBezTo>
                    <a:pt x="20264501" y="0"/>
                    <a:pt x="20330922" y="83875"/>
                    <a:pt x="20330922" y="187315"/>
                  </a:cubicBezTo>
                  <a:lnTo>
                    <a:pt x="20330922" y="1334299"/>
                  </a:lnTo>
                  <a:cubicBezTo>
                    <a:pt x="20330922" y="1437739"/>
                    <a:pt x="20264501" y="1521594"/>
                    <a:pt x="20182587" y="1521594"/>
                  </a:cubicBezTo>
                  <a:lnTo>
                    <a:pt x="148336" y="1521594"/>
                  </a:lnTo>
                  <a:cubicBezTo>
                    <a:pt x="66421" y="1521454"/>
                    <a:pt x="0" y="1437739"/>
                    <a:pt x="0" y="1334299"/>
                  </a:cubicBezTo>
                  <a:close/>
                </a:path>
              </a:pathLst>
            </a:custGeom>
            <a:solidFill>
              <a:srgbClr val="F2F7FB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15971" y="8627639"/>
            <a:ext cx="14852313" cy="957675"/>
            <a:chOff x="0" y="0"/>
            <a:chExt cx="19803085" cy="127690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803087" cy="1276894"/>
            </a:xfrm>
            <a:custGeom>
              <a:avLst/>
              <a:gdLst/>
              <a:ahLst/>
              <a:cxnLst/>
              <a:rect r="r" b="b" t="t" l="l"/>
              <a:pathLst>
                <a:path h="1276894" w="19803087">
                  <a:moveTo>
                    <a:pt x="0" y="0"/>
                  </a:moveTo>
                  <a:lnTo>
                    <a:pt x="19803087" y="0"/>
                  </a:lnTo>
                  <a:lnTo>
                    <a:pt x="19803087" y="1276894"/>
                  </a:lnTo>
                  <a:lnTo>
                    <a:pt x="0" y="12768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938" r="0" b="-23443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9803085" cy="1286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1"/>
                </a:lnSpc>
              </a:pPr>
              <a:r>
                <a:rPr lang="en-US" sz="2426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Why this matters: learned patch features keep richer local texture information before message passing combines nearby node representations.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>
            <a:off x="679659" y="9711884"/>
            <a:ext cx="15866761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0" id="70"/>
          <p:cNvSpPr txBox="true"/>
          <p:nvPr/>
        </p:nvSpPr>
        <p:spPr>
          <a:xfrm rot="0">
            <a:off x="17310344" y="9419423"/>
            <a:ext cx="527844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9194" y="1028700"/>
            <a:ext cx="14962127" cy="993475"/>
            <a:chOff x="0" y="0"/>
            <a:chExt cx="19949503" cy="13246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324638"/>
            </a:xfrm>
            <a:custGeom>
              <a:avLst/>
              <a:gdLst/>
              <a:ahLst/>
              <a:cxnLst/>
              <a:rect r="r" b="b" t="t" l="l"/>
              <a:pathLst>
                <a:path h="132463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324638"/>
                  </a:lnTo>
                  <a:lnTo>
                    <a:pt x="0" y="13246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272" r="0" b="-2176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949503" cy="1334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3"/>
                </a:lnSpc>
              </a:pPr>
              <a:r>
                <a:rPr lang="en-US" sz="4503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Ablation study: what actually helped?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79659" y="1829703"/>
            <a:ext cx="1254471" cy="87697"/>
            <a:chOff x="0" y="0"/>
            <a:chExt cx="1672628" cy="1169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2590" cy="116967"/>
            </a:xfrm>
            <a:custGeom>
              <a:avLst/>
              <a:gdLst/>
              <a:ahLst/>
              <a:cxnLst/>
              <a:rect r="r" b="b" t="t" l="l"/>
              <a:pathLst>
                <a:path h="116967" w="1672590">
                  <a:moveTo>
                    <a:pt x="0" y="0"/>
                  </a:moveTo>
                  <a:lnTo>
                    <a:pt x="1672590" y="0"/>
                  </a:lnTo>
                  <a:lnTo>
                    <a:pt x="1672590" y="116967"/>
                  </a:lnTo>
                  <a:lnTo>
                    <a:pt x="0" y="116967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98719" y="2022175"/>
            <a:ext cx="15923000" cy="621736"/>
            <a:chOff x="0" y="0"/>
            <a:chExt cx="21230666" cy="8289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30667" cy="828987"/>
            </a:xfrm>
            <a:custGeom>
              <a:avLst/>
              <a:gdLst/>
              <a:ahLst/>
              <a:cxnLst/>
              <a:rect r="r" b="b" t="t" l="l"/>
              <a:pathLst>
                <a:path h="82898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828987"/>
                  </a:lnTo>
                  <a:lnTo>
                    <a:pt x="0" y="8289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214" r="0" b="-42882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230666" cy="828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1"/>
                </a:lnSpc>
              </a:pPr>
              <a:r>
                <a:rPr lang="en-US" sz="282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Every variant was tested on the same held-out split.</a:t>
              </a: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97376" y="1925171"/>
            <a:ext cx="9975887" cy="7231449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10514143" y="2596536"/>
            <a:ext cx="4392549" cy="566530"/>
            <a:chOff x="0" y="0"/>
            <a:chExt cx="5856732" cy="755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6736" cy="755361"/>
            </a:xfrm>
            <a:custGeom>
              <a:avLst/>
              <a:gdLst/>
              <a:ahLst/>
              <a:cxnLst/>
              <a:rect r="r" b="b" t="t" l="l"/>
              <a:pathLst>
                <a:path h="755361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55361"/>
                  </a:lnTo>
                  <a:lnTo>
                    <a:pt x="0" y="7553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47" r="0" b="-7530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5856732" cy="745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1"/>
                </a:lnSpc>
              </a:pPr>
              <a:r>
                <a:rPr lang="en-US" sz="2575">
                  <a:solidFill>
                    <a:srgbClr val="C659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FINDINGS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17962" y="3334516"/>
            <a:ext cx="6737537" cy="1082126"/>
            <a:chOff x="0" y="0"/>
            <a:chExt cx="8983383" cy="14428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83345" cy="1442847"/>
            </a:xfrm>
            <a:custGeom>
              <a:avLst/>
              <a:gdLst/>
              <a:ahLst/>
              <a:cxnLst/>
              <a:rect r="r" b="b" t="t" l="l"/>
              <a:pathLst>
                <a:path h="1442847" w="8983345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8835390" y="0"/>
                  </a:lnTo>
                  <a:cubicBezTo>
                    <a:pt x="8917178" y="0"/>
                    <a:pt x="8983345" y="66294"/>
                    <a:pt x="8983345" y="147955"/>
                  </a:cubicBezTo>
                  <a:lnTo>
                    <a:pt x="8983345" y="1294892"/>
                  </a:lnTo>
                  <a:cubicBezTo>
                    <a:pt x="8983345" y="1376680"/>
                    <a:pt x="8917051" y="1442847"/>
                    <a:pt x="8835390" y="1442847"/>
                  </a:cubicBezTo>
                  <a:lnTo>
                    <a:pt x="147955" y="1442847"/>
                  </a:lnTo>
                  <a:cubicBezTo>
                    <a:pt x="66294" y="1442847"/>
                    <a:pt x="0" y="1376553"/>
                    <a:pt x="0" y="1294892"/>
                  </a:cubicBezTo>
                  <a:close/>
                </a:path>
              </a:pathLst>
            </a:custGeom>
            <a:solidFill>
              <a:srgbClr val="F0F7F3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770765" y="3373709"/>
            <a:ext cx="6341745" cy="1003741"/>
            <a:chOff x="0" y="0"/>
            <a:chExt cx="8455660" cy="13383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55662" cy="1338326"/>
            </a:xfrm>
            <a:custGeom>
              <a:avLst/>
              <a:gdLst/>
              <a:ahLst/>
              <a:cxnLst/>
              <a:rect r="r" b="b" t="t" l="l"/>
              <a:pathLst>
                <a:path h="1338326" w="8455662">
                  <a:moveTo>
                    <a:pt x="0" y="0"/>
                  </a:moveTo>
                  <a:lnTo>
                    <a:pt x="8455662" y="0"/>
                  </a:lnTo>
                  <a:lnTo>
                    <a:pt x="8455662" y="1338326"/>
                  </a:lnTo>
                  <a:lnTo>
                    <a:pt x="0" y="1338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49" r="0" b="-6276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455660" cy="133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B8B5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Graph message passing helped</a:t>
              </a:r>
            </a:p>
            <a:p>
              <a:pPr algn="l">
                <a:lnSpc>
                  <a:spcPts val="3241"/>
                </a:lnSpc>
              </a:pPr>
              <a:r>
                <a:rPr lang="en-US" sz="2701">
                  <a:solidFill>
                    <a:srgbClr val="4B8B5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0.7191 → 0.7857  (+0.0666)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17962" y="4679732"/>
            <a:ext cx="6737537" cy="1082126"/>
            <a:chOff x="0" y="0"/>
            <a:chExt cx="8983383" cy="14428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83345" cy="1442847"/>
            </a:xfrm>
            <a:custGeom>
              <a:avLst/>
              <a:gdLst/>
              <a:ahLst/>
              <a:cxnLst/>
              <a:rect r="r" b="b" t="t" l="l"/>
              <a:pathLst>
                <a:path h="1442847" w="8983345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8835390" y="0"/>
                  </a:lnTo>
                  <a:cubicBezTo>
                    <a:pt x="8917178" y="0"/>
                    <a:pt x="8983345" y="66294"/>
                    <a:pt x="8983345" y="147955"/>
                  </a:cubicBezTo>
                  <a:lnTo>
                    <a:pt x="8983345" y="1294892"/>
                  </a:lnTo>
                  <a:cubicBezTo>
                    <a:pt x="8983345" y="1376680"/>
                    <a:pt x="8917051" y="1442847"/>
                    <a:pt x="8835390" y="1442847"/>
                  </a:cubicBezTo>
                  <a:lnTo>
                    <a:pt x="147955" y="1442847"/>
                  </a:lnTo>
                  <a:cubicBezTo>
                    <a:pt x="66294" y="1442847"/>
                    <a:pt x="0" y="1376553"/>
                    <a:pt x="0" y="1294892"/>
                  </a:cubicBezTo>
                  <a:close/>
                </a:path>
              </a:pathLst>
            </a:custGeom>
            <a:solidFill>
              <a:srgbClr val="F8F4EE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542718" y="4873976"/>
            <a:ext cx="7517235" cy="887882"/>
            <a:chOff x="0" y="0"/>
            <a:chExt cx="10022980" cy="11838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22982" cy="1183846"/>
            </a:xfrm>
            <a:custGeom>
              <a:avLst/>
              <a:gdLst/>
              <a:ahLst/>
              <a:cxnLst/>
              <a:rect r="r" b="b" t="t" l="l"/>
              <a:pathLst>
                <a:path h="1183846" w="10022982">
                  <a:moveTo>
                    <a:pt x="0" y="0"/>
                  </a:moveTo>
                  <a:lnTo>
                    <a:pt x="10022982" y="0"/>
                  </a:lnTo>
                  <a:lnTo>
                    <a:pt x="10022982" y="1183846"/>
                  </a:lnTo>
                  <a:lnTo>
                    <a:pt x="0" y="1183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38" r="15637" b="-840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022980" cy="1183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More edges were not automatically better</a:t>
              </a:r>
            </a:p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4-neighbor &gt; weighted 8-neighbor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17962" y="6024958"/>
            <a:ext cx="6737537" cy="1082126"/>
            <a:chOff x="0" y="0"/>
            <a:chExt cx="8983383" cy="14428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83345" cy="1442847"/>
            </a:xfrm>
            <a:custGeom>
              <a:avLst/>
              <a:gdLst/>
              <a:ahLst/>
              <a:cxnLst/>
              <a:rect r="r" b="b" t="t" l="l"/>
              <a:pathLst>
                <a:path h="1442847" w="8983345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8835390" y="0"/>
                  </a:lnTo>
                  <a:cubicBezTo>
                    <a:pt x="8917178" y="0"/>
                    <a:pt x="8983345" y="66294"/>
                    <a:pt x="8983345" y="147955"/>
                  </a:cubicBezTo>
                  <a:lnTo>
                    <a:pt x="8983345" y="1294892"/>
                  </a:lnTo>
                  <a:cubicBezTo>
                    <a:pt x="8983345" y="1376680"/>
                    <a:pt x="8917051" y="1442847"/>
                    <a:pt x="8835390" y="1442847"/>
                  </a:cubicBezTo>
                  <a:lnTo>
                    <a:pt x="147955" y="1442847"/>
                  </a:lnTo>
                  <a:cubicBezTo>
                    <a:pt x="66294" y="1442847"/>
                    <a:pt x="0" y="1376553"/>
                    <a:pt x="0" y="1294892"/>
                  </a:cubicBezTo>
                  <a:close/>
                </a:path>
              </a:pathLst>
            </a:custGeom>
            <a:solidFill>
              <a:srgbClr val="F2F7FB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590343" y="6167945"/>
            <a:ext cx="8974245" cy="796150"/>
            <a:chOff x="0" y="0"/>
            <a:chExt cx="11965660" cy="10615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65662" cy="1061537"/>
            </a:xfrm>
            <a:custGeom>
              <a:avLst/>
              <a:gdLst/>
              <a:ahLst/>
              <a:cxnLst/>
              <a:rect r="r" b="b" t="t" l="l"/>
              <a:pathLst>
                <a:path h="1061537" w="11965662">
                  <a:moveTo>
                    <a:pt x="0" y="0"/>
                  </a:moveTo>
                  <a:lnTo>
                    <a:pt x="11965662" y="0"/>
                  </a:lnTo>
                  <a:lnTo>
                    <a:pt x="11965662" y="1061537"/>
                  </a:lnTo>
                  <a:lnTo>
                    <a:pt x="0" y="1061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208" r="29333" b="-1052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1965660" cy="107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Batch normalization stabilized the graph network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0.7645 → 0.7199 when removed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14143" y="7970334"/>
            <a:ext cx="6745157" cy="911304"/>
            <a:chOff x="0" y="0"/>
            <a:chExt cx="8993543" cy="1215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93632" cy="1215136"/>
            </a:xfrm>
            <a:custGeom>
              <a:avLst/>
              <a:gdLst/>
              <a:ahLst/>
              <a:cxnLst/>
              <a:rect r="r" b="b" t="t" l="l"/>
              <a:pathLst>
                <a:path h="1215136" w="8993632">
                  <a:moveTo>
                    <a:pt x="0" y="149606"/>
                  </a:moveTo>
                  <a:cubicBezTo>
                    <a:pt x="0" y="66929"/>
                    <a:pt x="66929" y="0"/>
                    <a:pt x="149606" y="0"/>
                  </a:cubicBezTo>
                  <a:lnTo>
                    <a:pt x="8844026" y="0"/>
                  </a:lnTo>
                  <a:cubicBezTo>
                    <a:pt x="8926576" y="0"/>
                    <a:pt x="8993632" y="66929"/>
                    <a:pt x="8993632" y="149606"/>
                  </a:cubicBezTo>
                  <a:lnTo>
                    <a:pt x="8993632" y="1065530"/>
                  </a:lnTo>
                  <a:cubicBezTo>
                    <a:pt x="8993632" y="1148080"/>
                    <a:pt x="8926702" y="1215136"/>
                    <a:pt x="8844026" y="1215136"/>
                  </a:cubicBezTo>
                  <a:lnTo>
                    <a:pt x="149606" y="1215136"/>
                  </a:lnTo>
                  <a:cubicBezTo>
                    <a:pt x="66929" y="1215009"/>
                    <a:pt x="0" y="1148080"/>
                    <a:pt x="0" y="1065530"/>
                  </a:cubicBezTo>
                  <a:close/>
                </a:path>
              </a:pathLst>
            </a:custGeom>
            <a:solidFill>
              <a:srgbClr val="0E2A47"/>
            </a:solidFill>
            <a:ln w="19065" cap="sq">
              <a:solidFill>
                <a:srgbClr val="0E2A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590343" y="7970334"/>
            <a:ext cx="6231931" cy="1003741"/>
            <a:chOff x="0" y="0"/>
            <a:chExt cx="8309242" cy="13383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09244" cy="1338322"/>
            </a:xfrm>
            <a:custGeom>
              <a:avLst/>
              <a:gdLst/>
              <a:ahLst/>
              <a:cxnLst/>
              <a:rect r="r" b="b" t="t" l="l"/>
              <a:pathLst>
                <a:path h="1338322" w="8309244">
                  <a:moveTo>
                    <a:pt x="0" y="0"/>
                  </a:moveTo>
                  <a:lnTo>
                    <a:pt x="8309244" y="0"/>
                  </a:lnTo>
                  <a:lnTo>
                    <a:pt x="8309244" y="1338322"/>
                  </a:lnTo>
                  <a:lnTo>
                    <a:pt x="0" y="1338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036" r="0" b="-319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8309242" cy="133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1"/>
                </a:lnSpc>
              </a:pPr>
              <a:r>
                <a:rPr lang="en-US" sz="270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Selected final model: CNN_GCN_4N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679659" y="9711884"/>
            <a:ext cx="16235391" cy="39038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7281174" y="9419423"/>
            <a:ext cx="586184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384353"/>
            <a:ext cx="14962127" cy="967592"/>
            <a:chOff x="0" y="0"/>
            <a:chExt cx="19949503" cy="1290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290128"/>
            </a:xfrm>
            <a:custGeom>
              <a:avLst/>
              <a:gdLst/>
              <a:ahLst/>
              <a:cxnLst/>
              <a:rect r="r" b="b" t="t" l="l"/>
              <a:pathLst>
                <a:path h="1290128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290128"/>
                  </a:lnTo>
                  <a:lnTo>
                    <a:pt x="0" y="1290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474" r="0" b="-22612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949503" cy="1290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3"/>
                </a:lnSpc>
              </a:pPr>
              <a:r>
                <a:rPr lang="en-US" sz="4403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performance, CV and significance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971" y="1207951"/>
            <a:ext cx="15923000" cy="579496"/>
            <a:chOff x="0" y="0"/>
            <a:chExt cx="21230666" cy="7726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30667" cy="772667"/>
            </a:xfrm>
            <a:custGeom>
              <a:avLst/>
              <a:gdLst/>
              <a:ahLst/>
              <a:cxnLst/>
              <a:rect r="r" b="b" t="t" l="l"/>
              <a:pathLst>
                <a:path h="772667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772667"/>
                  </a:lnTo>
                  <a:lnTo>
                    <a:pt x="0" y="772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15" r="0" b="-4673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230666" cy="7726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1"/>
                </a:lnSpc>
              </a:pPr>
              <a:r>
                <a:rPr lang="en-US" sz="2626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The improved GCN became competitive, but ResNet18 remained the stronger classifier.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8347" y="1375236"/>
            <a:ext cx="7804235" cy="5354077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207951" y="6479010"/>
            <a:ext cx="4392549" cy="388046"/>
            <a:chOff x="0" y="0"/>
            <a:chExt cx="5856732" cy="5173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856736" cy="517386"/>
            </a:xfrm>
            <a:custGeom>
              <a:avLst/>
              <a:gdLst/>
              <a:ahLst/>
              <a:cxnLst/>
              <a:rect r="r" b="b" t="t" l="l"/>
              <a:pathLst>
                <a:path h="517386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517386"/>
                  </a:lnTo>
                  <a:lnTo>
                    <a:pt x="0" y="5173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92" r="0" b="-15594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856732" cy="5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5">
                  <a:solidFill>
                    <a:srgbClr val="3A7A8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EFFICIENCY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0640" y="6927228"/>
            <a:ext cx="3029407" cy="489966"/>
            <a:chOff x="0" y="0"/>
            <a:chExt cx="4039210" cy="653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39235" cy="653288"/>
            </a:xfrm>
            <a:custGeom>
              <a:avLst/>
              <a:gdLst/>
              <a:ahLst/>
              <a:cxnLst/>
              <a:rect r="r" b="b" t="t" l="l"/>
              <a:pathLst>
                <a:path h="653288" w="4039235">
                  <a:moveTo>
                    <a:pt x="0" y="0"/>
                  </a:moveTo>
                  <a:lnTo>
                    <a:pt x="4039235" y="0"/>
                  </a:lnTo>
                  <a:lnTo>
                    <a:pt x="4039235" y="653288"/>
                  </a:lnTo>
                  <a:lnTo>
                    <a:pt x="0" y="653288"/>
                  </a:lnTo>
                  <a:close/>
                </a:path>
              </a:pathLst>
            </a:custGeom>
            <a:solidFill>
              <a:srgbClr val="3A7A85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7055539"/>
            <a:ext cx="1872329" cy="429955"/>
            <a:chOff x="0" y="0"/>
            <a:chExt cx="2496439" cy="5732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6434" cy="573271"/>
            </a:xfrm>
            <a:custGeom>
              <a:avLst/>
              <a:gdLst/>
              <a:ahLst/>
              <a:cxnLst/>
              <a:rect r="r" b="b" t="t" l="l"/>
              <a:pathLst>
                <a:path h="573271" w="2496434">
                  <a:moveTo>
                    <a:pt x="0" y="0"/>
                  </a:moveTo>
                  <a:lnTo>
                    <a:pt x="2496434" y="0"/>
                  </a:lnTo>
                  <a:lnTo>
                    <a:pt x="2496434" y="573271"/>
                  </a:lnTo>
                  <a:lnTo>
                    <a:pt x="0" y="57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36" r="0" b="-2156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496439" cy="57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88925" y="7055539"/>
            <a:ext cx="815369" cy="725230"/>
            <a:chOff x="0" y="0"/>
            <a:chExt cx="1087158" cy="9669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7157" cy="966970"/>
            </a:xfrm>
            <a:custGeom>
              <a:avLst/>
              <a:gdLst/>
              <a:ahLst/>
              <a:cxnLst/>
              <a:rect r="r" b="b" t="t" l="l"/>
              <a:pathLst>
                <a:path h="966970" w="1087157">
                  <a:moveTo>
                    <a:pt x="0" y="0"/>
                  </a:moveTo>
                  <a:lnTo>
                    <a:pt x="1087157" y="0"/>
                  </a:lnTo>
                  <a:lnTo>
                    <a:pt x="1087157" y="966970"/>
                  </a:lnTo>
                  <a:lnTo>
                    <a:pt x="0" y="96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" r="0" b="563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87158" cy="966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Checkpoint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0640" y="7407669"/>
            <a:ext cx="3029407" cy="489966"/>
            <a:chOff x="0" y="0"/>
            <a:chExt cx="4039210" cy="653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39235" cy="653288"/>
            </a:xfrm>
            <a:custGeom>
              <a:avLst/>
              <a:gdLst/>
              <a:ahLst/>
              <a:cxnLst/>
              <a:rect r="r" b="b" t="t" l="l"/>
              <a:pathLst>
                <a:path h="653288" w="4039235">
                  <a:moveTo>
                    <a:pt x="0" y="0"/>
                  </a:moveTo>
                  <a:lnTo>
                    <a:pt x="4039235" y="0"/>
                  </a:lnTo>
                  <a:lnTo>
                    <a:pt x="4039235" y="653288"/>
                  </a:lnTo>
                  <a:lnTo>
                    <a:pt x="0" y="653288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2676" y="7535970"/>
            <a:ext cx="1872329" cy="427903"/>
            <a:chOff x="0" y="0"/>
            <a:chExt cx="2496439" cy="5705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96434" cy="570536"/>
            </a:xfrm>
            <a:custGeom>
              <a:avLst/>
              <a:gdLst/>
              <a:ahLst/>
              <a:cxnLst/>
              <a:rect r="r" b="b" t="t" l="l"/>
              <a:pathLst>
                <a:path h="570536" w="2496434">
                  <a:moveTo>
                    <a:pt x="0" y="0"/>
                  </a:moveTo>
                  <a:lnTo>
                    <a:pt x="2496434" y="0"/>
                  </a:lnTo>
                  <a:lnTo>
                    <a:pt x="2496434" y="570536"/>
                  </a:lnTo>
                  <a:lnTo>
                    <a:pt x="0" y="570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7" r="0" b="-221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496439" cy="570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GCN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288925" y="7535970"/>
            <a:ext cx="815369" cy="315715"/>
            <a:chOff x="0" y="0"/>
            <a:chExt cx="1087158" cy="4209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7157" cy="420952"/>
            </a:xfrm>
            <a:custGeom>
              <a:avLst/>
              <a:gdLst/>
              <a:ahLst/>
              <a:cxnLst/>
              <a:rect r="r" b="b" t="t" l="l"/>
              <a:pathLst>
                <a:path h="420952" w="1087157">
                  <a:moveTo>
                    <a:pt x="0" y="0"/>
                  </a:moveTo>
                  <a:lnTo>
                    <a:pt x="1087157" y="0"/>
                  </a:lnTo>
                  <a:lnTo>
                    <a:pt x="1087157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" r="0" b="-32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87158" cy="42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17"/>
                </a:lnSpc>
              </a:pPr>
              <a:r>
                <a:rPr lang="en-US" sz="14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0.61 MB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0640" y="7888100"/>
            <a:ext cx="3029407" cy="489966"/>
            <a:chOff x="0" y="0"/>
            <a:chExt cx="4039210" cy="653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39235" cy="653288"/>
            </a:xfrm>
            <a:custGeom>
              <a:avLst/>
              <a:gdLst/>
              <a:ahLst/>
              <a:cxnLst/>
              <a:rect r="r" b="b" t="t" l="l"/>
              <a:pathLst>
                <a:path h="653288" w="4039235">
                  <a:moveTo>
                    <a:pt x="0" y="0"/>
                  </a:moveTo>
                  <a:lnTo>
                    <a:pt x="4039235" y="0"/>
                  </a:lnTo>
                  <a:lnTo>
                    <a:pt x="4039235" y="653288"/>
                  </a:lnTo>
                  <a:lnTo>
                    <a:pt x="0" y="653288"/>
                  </a:lnTo>
                  <a:close/>
                </a:path>
              </a:pathLst>
            </a:custGeom>
            <a:solidFill>
              <a:srgbClr val="F7FAFC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72676" y="8016411"/>
            <a:ext cx="1872329" cy="427903"/>
            <a:chOff x="0" y="0"/>
            <a:chExt cx="2496439" cy="5705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96434" cy="570536"/>
            </a:xfrm>
            <a:custGeom>
              <a:avLst/>
              <a:gdLst/>
              <a:ahLst/>
              <a:cxnLst/>
              <a:rect r="r" b="b" t="t" l="l"/>
              <a:pathLst>
                <a:path h="570536" w="2496434">
                  <a:moveTo>
                    <a:pt x="0" y="0"/>
                  </a:moveTo>
                  <a:lnTo>
                    <a:pt x="2496434" y="0"/>
                  </a:lnTo>
                  <a:lnTo>
                    <a:pt x="2496434" y="570536"/>
                  </a:lnTo>
                  <a:lnTo>
                    <a:pt x="0" y="570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7" r="0" b="-2214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496439" cy="570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ResNet18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00840" y="7856413"/>
            <a:ext cx="991539" cy="597093"/>
            <a:chOff x="0" y="0"/>
            <a:chExt cx="1087158" cy="6546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7157" cy="654672"/>
            </a:xfrm>
            <a:custGeom>
              <a:avLst/>
              <a:gdLst/>
              <a:ahLst/>
              <a:cxnLst/>
              <a:rect r="r" b="b" t="t" l="l"/>
              <a:pathLst>
                <a:path h="654672" w="1087157">
                  <a:moveTo>
                    <a:pt x="0" y="0"/>
                  </a:moveTo>
                  <a:lnTo>
                    <a:pt x="1087157" y="0"/>
                  </a:lnTo>
                  <a:lnTo>
                    <a:pt x="1087157" y="654672"/>
                  </a:lnTo>
                  <a:lnTo>
                    <a:pt x="0" y="65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" r="0" b="354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87158" cy="6546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597"/>
                </a:lnSpc>
              </a:pPr>
              <a:r>
                <a:rPr lang="en-US" sz="13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42.76 MB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97600" y="6927228"/>
            <a:ext cx="3029407" cy="489966"/>
            <a:chOff x="0" y="0"/>
            <a:chExt cx="4039210" cy="653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39235" cy="653288"/>
            </a:xfrm>
            <a:custGeom>
              <a:avLst/>
              <a:gdLst/>
              <a:ahLst/>
              <a:cxnLst/>
              <a:rect r="r" b="b" t="t" l="l"/>
              <a:pathLst>
                <a:path h="653288" w="4039235">
                  <a:moveTo>
                    <a:pt x="0" y="0"/>
                  </a:moveTo>
                  <a:lnTo>
                    <a:pt x="4039235" y="0"/>
                  </a:lnTo>
                  <a:lnTo>
                    <a:pt x="4039235" y="653288"/>
                  </a:lnTo>
                  <a:lnTo>
                    <a:pt x="0" y="653288"/>
                  </a:lnTo>
                  <a:close/>
                </a:path>
              </a:pathLst>
            </a:custGeom>
            <a:solidFill>
              <a:srgbClr val="3A7A85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639637" y="7055539"/>
            <a:ext cx="1872329" cy="429955"/>
            <a:chOff x="0" y="0"/>
            <a:chExt cx="2496439" cy="5732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96434" cy="573271"/>
            </a:xfrm>
            <a:custGeom>
              <a:avLst/>
              <a:gdLst/>
              <a:ahLst/>
              <a:cxnLst/>
              <a:rect r="r" b="b" t="t" l="l"/>
              <a:pathLst>
                <a:path h="573271" w="2496434">
                  <a:moveTo>
                    <a:pt x="0" y="0"/>
                  </a:moveTo>
                  <a:lnTo>
                    <a:pt x="2496434" y="0"/>
                  </a:lnTo>
                  <a:lnTo>
                    <a:pt x="2496434" y="573271"/>
                  </a:lnTo>
                  <a:lnTo>
                    <a:pt x="0" y="57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36" r="0" b="-2156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496439" cy="573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148202" y="7055539"/>
            <a:ext cx="815369" cy="725230"/>
            <a:chOff x="0" y="0"/>
            <a:chExt cx="1087158" cy="9669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7157" cy="966970"/>
            </a:xfrm>
            <a:custGeom>
              <a:avLst/>
              <a:gdLst/>
              <a:ahLst/>
              <a:cxnLst/>
              <a:rect r="r" b="b" t="t" l="l"/>
              <a:pathLst>
                <a:path h="966970" w="1087157">
                  <a:moveTo>
                    <a:pt x="0" y="0"/>
                  </a:moveTo>
                  <a:lnTo>
                    <a:pt x="1087157" y="0"/>
                  </a:lnTo>
                  <a:lnTo>
                    <a:pt x="1087157" y="966970"/>
                  </a:lnTo>
                  <a:lnTo>
                    <a:pt x="0" y="96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" r="0" b="5632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087158" cy="966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Inference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97600" y="7407669"/>
            <a:ext cx="3029407" cy="489966"/>
            <a:chOff x="0" y="0"/>
            <a:chExt cx="4039210" cy="653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39235" cy="653288"/>
            </a:xfrm>
            <a:custGeom>
              <a:avLst/>
              <a:gdLst/>
              <a:ahLst/>
              <a:cxnLst/>
              <a:rect r="r" b="b" t="t" l="l"/>
              <a:pathLst>
                <a:path h="653288" w="4039235">
                  <a:moveTo>
                    <a:pt x="0" y="0"/>
                  </a:moveTo>
                  <a:lnTo>
                    <a:pt x="4039235" y="0"/>
                  </a:lnTo>
                  <a:lnTo>
                    <a:pt x="4039235" y="653288"/>
                  </a:lnTo>
                  <a:lnTo>
                    <a:pt x="0" y="653288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4639637" y="7535970"/>
            <a:ext cx="1872329" cy="427903"/>
            <a:chOff x="0" y="0"/>
            <a:chExt cx="2496439" cy="5705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96434" cy="570536"/>
            </a:xfrm>
            <a:custGeom>
              <a:avLst/>
              <a:gdLst/>
              <a:ahLst/>
              <a:cxnLst/>
              <a:rect r="r" b="b" t="t" l="l"/>
              <a:pathLst>
                <a:path h="570536" w="2496434">
                  <a:moveTo>
                    <a:pt x="0" y="0"/>
                  </a:moveTo>
                  <a:lnTo>
                    <a:pt x="2496434" y="0"/>
                  </a:lnTo>
                  <a:lnTo>
                    <a:pt x="2496434" y="570536"/>
                  </a:lnTo>
                  <a:lnTo>
                    <a:pt x="0" y="570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7" r="0" b="-2214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96439" cy="570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GCN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900143" y="7594447"/>
            <a:ext cx="2496119" cy="315715"/>
            <a:chOff x="0" y="0"/>
            <a:chExt cx="3328158" cy="4209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28156" cy="420952"/>
            </a:xfrm>
            <a:custGeom>
              <a:avLst/>
              <a:gdLst/>
              <a:ahLst/>
              <a:cxnLst/>
              <a:rect r="r" b="b" t="t" l="l"/>
              <a:pathLst>
                <a:path h="420952" w="3328156">
                  <a:moveTo>
                    <a:pt x="0" y="0"/>
                  </a:moveTo>
                  <a:lnTo>
                    <a:pt x="3328156" y="0"/>
                  </a:lnTo>
                  <a:lnTo>
                    <a:pt x="3328156" y="420952"/>
                  </a:lnTo>
                  <a:lnTo>
                    <a:pt x="0" y="420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" r="67334" b="-3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328158" cy="420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17"/>
                </a:lnSpc>
              </a:pPr>
              <a:r>
                <a:rPr lang="en-US" sz="14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1.20 ms/img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497600" y="7888100"/>
            <a:ext cx="3029407" cy="489966"/>
            <a:chOff x="0" y="0"/>
            <a:chExt cx="4039210" cy="6532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39235" cy="653288"/>
            </a:xfrm>
            <a:custGeom>
              <a:avLst/>
              <a:gdLst/>
              <a:ahLst/>
              <a:cxnLst/>
              <a:rect r="r" b="b" t="t" l="l"/>
              <a:pathLst>
                <a:path h="653288" w="4039235">
                  <a:moveTo>
                    <a:pt x="0" y="0"/>
                  </a:moveTo>
                  <a:lnTo>
                    <a:pt x="4039235" y="0"/>
                  </a:lnTo>
                  <a:lnTo>
                    <a:pt x="4039235" y="653288"/>
                  </a:lnTo>
                  <a:lnTo>
                    <a:pt x="0" y="653288"/>
                  </a:lnTo>
                  <a:close/>
                </a:path>
              </a:pathLst>
            </a:custGeom>
            <a:solidFill>
              <a:srgbClr val="F7FAFC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4639637" y="8016411"/>
            <a:ext cx="1872329" cy="427903"/>
            <a:chOff x="0" y="0"/>
            <a:chExt cx="2496439" cy="57053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96434" cy="570536"/>
            </a:xfrm>
            <a:custGeom>
              <a:avLst/>
              <a:gdLst/>
              <a:ahLst/>
              <a:cxnLst/>
              <a:rect r="r" b="b" t="t" l="l"/>
              <a:pathLst>
                <a:path h="570536" w="2496434">
                  <a:moveTo>
                    <a:pt x="0" y="0"/>
                  </a:moveTo>
                  <a:lnTo>
                    <a:pt x="2496434" y="0"/>
                  </a:lnTo>
                  <a:lnTo>
                    <a:pt x="2496434" y="570536"/>
                  </a:lnTo>
                  <a:lnTo>
                    <a:pt x="0" y="570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7" r="0" b="-221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496439" cy="570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ResNet18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215533" y="7780769"/>
            <a:ext cx="1180728" cy="748382"/>
            <a:chOff x="0" y="0"/>
            <a:chExt cx="1087158" cy="6890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7157" cy="689073"/>
            </a:xfrm>
            <a:custGeom>
              <a:avLst/>
              <a:gdLst/>
              <a:ahLst/>
              <a:cxnLst/>
              <a:rect r="r" b="b" t="t" l="l"/>
              <a:pathLst>
                <a:path h="689073" w="1087157">
                  <a:moveTo>
                    <a:pt x="0" y="0"/>
                  </a:moveTo>
                  <a:lnTo>
                    <a:pt x="1087157" y="0"/>
                  </a:lnTo>
                  <a:lnTo>
                    <a:pt x="1087157" y="689073"/>
                  </a:lnTo>
                  <a:lnTo>
                    <a:pt x="0" y="6890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" r="0" b="3871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087158" cy="689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16"/>
                </a:lnSpc>
              </a:pPr>
              <a:r>
                <a:rPr lang="en-US" sz="1430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1.39 ms/img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510568" y="1846522"/>
            <a:ext cx="4392549" cy="540648"/>
            <a:chOff x="0" y="0"/>
            <a:chExt cx="5856732" cy="7208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56736" cy="720852"/>
            </a:xfrm>
            <a:custGeom>
              <a:avLst/>
              <a:gdLst/>
              <a:ahLst/>
              <a:cxnLst/>
              <a:rect r="r" b="b" t="t" l="l"/>
              <a:pathLst>
                <a:path h="72085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920" r="0" b="-8370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5856732" cy="720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1"/>
                </a:lnSpc>
              </a:pPr>
              <a:r>
                <a:rPr lang="en-US" sz="2475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FIVE-FOLD CV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505806" y="2360173"/>
            <a:ext cx="8451466" cy="659263"/>
            <a:chOff x="0" y="0"/>
            <a:chExt cx="11268621" cy="87901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68583" cy="878967"/>
            </a:xfrm>
            <a:custGeom>
              <a:avLst/>
              <a:gdLst/>
              <a:ahLst/>
              <a:cxnLst/>
              <a:rect r="r" b="b" t="t" l="l"/>
              <a:pathLst>
                <a:path h="878967" w="11268583">
                  <a:moveTo>
                    <a:pt x="0" y="0"/>
                  </a:moveTo>
                  <a:lnTo>
                    <a:pt x="11268583" y="0"/>
                  </a:lnTo>
                  <a:lnTo>
                    <a:pt x="11268583" y="878967"/>
                  </a:lnTo>
                  <a:lnTo>
                    <a:pt x="0" y="878967"/>
                  </a:lnTo>
                  <a:close/>
                </a:path>
              </a:pathLst>
            </a:custGeom>
            <a:solidFill>
              <a:srgbClr val="C65911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8647833" y="2488484"/>
            <a:ext cx="5233997" cy="485011"/>
            <a:chOff x="0" y="0"/>
            <a:chExt cx="6978663" cy="64668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78666" cy="646678"/>
            </a:xfrm>
            <a:custGeom>
              <a:avLst/>
              <a:gdLst/>
              <a:ahLst/>
              <a:cxnLst/>
              <a:rect r="r" b="b" t="t" l="l"/>
              <a:pathLst>
                <a:path h="646678" w="6978666">
                  <a:moveTo>
                    <a:pt x="0" y="0"/>
                  </a:moveTo>
                  <a:lnTo>
                    <a:pt x="6978666" y="0"/>
                  </a:lnTo>
                  <a:lnTo>
                    <a:pt x="697866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73" r="0" b="-16027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6978663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Metric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988255" y="2533092"/>
            <a:ext cx="3542154" cy="485011"/>
            <a:chOff x="0" y="0"/>
            <a:chExt cx="4722872" cy="64668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22870" cy="646678"/>
            </a:xfrm>
            <a:custGeom>
              <a:avLst/>
              <a:gdLst/>
              <a:ahLst/>
              <a:cxnLst/>
              <a:rect r="r" b="b" t="t" l="l"/>
              <a:pathLst>
                <a:path h="646678" w="4722870">
                  <a:moveTo>
                    <a:pt x="0" y="0"/>
                  </a:moveTo>
                  <a:lnTo>
                    <a:pt x="4722870" y="0"/>
                  </a:lnTo>
                  <a:lnTo>
                    <a:pt x="4722870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0" r="35651" b="-4157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4722872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ResNet18 / Final GCN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505806" y="3009911"/>
            <a:ext cx="8451466" cy="659263"/>
            <a:chOff x="0" y="0"/>
            <a:chExt cx="11268621" cy="8790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268583" cy="878967"/>
            </a:xfrm>
            <a:custGeom>
              <a:avLst/>
              <a:gdLst/>
              <a:ahLst/>
              <a:cxnLst/>
              <a:rect r="r" b="b" t="t" l="l"/>
              <a:pathLst>
                <a:path h="878967" w="11268583">
                  <a:moveTo>
                    <a:pt x="0" y="0"/>
                  </a:moveTo>
                  <a:lnTo>
                    <a:pt x="11268583" y="0"/>
                  </a:lnTo>
                  <a:lnTo>
                    <a:pt x="11268583" y="878967"/>
                  </a:lnTo>
                  <a:lnTo>
                    <a:pt x="0" y="878967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8647833" y="3138213"/>
            <a:ext cx="5233997" cy="485011"/>
            <a:chOff x="0" y="0"/>
            <a:chExt cx="6978663" cy="64668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978666" cy="646678"/>
            </a:xfrm>
            <a:custGeom>
              <a:avLst/>
              <a:gdLst/>
              <a:ahLst/>
              <a:cxnLst/>
              <a:rect r="r" b="b" t="t" l="l"/>
              <a:pathLst>
                <a:path h="646678" w="6978666">
                  <a:moveTo>
                    <a:pt x="0" y="0"/>
                  </a:moveTo>
                  <a:lnTo>
                    <a:pt x="6978666" y="0"/>
                  </a:lnTo>
                  <a:lnTo>
                    <a:pt x="697866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73" r="0" b="-16027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6978663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Macro-F1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182630" y="3041934"/>
            <a:ext cx="3153403" cy="677568"/>
            <a:chOff x="0" y="0"/>
            <a:chExt cx="4204538" cy="90342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04536" cy="903419"/>
            </a:xfrm>
            <a:custGeom>
              <a:avLst/>
              <a:gdLst/>
              <a:ahLst/>
              <a:cxnLst/>
              <a:rect r="r" b="b" t="t" l="l"/>
              <a:pathLst>
                <a:path h="903419" w="4204536">
                  <a:moveTo>
                    <a:pt x="0" y="0"/>
                  </a:moveTo>
                  <a:lnTo>
                    <a:pt x="4204536" y="0"/>
                  </a:lnTo>
                  <a:lnTo>
                    <a:pt x="4204536" y="903419"/>
                  </a:lnTo>
                  <a:lnTo>
                    <a:pt x="0" y="903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56" r="27718" b="-133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9525"/>
              <a:ext cx="4204538" cy="893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97"/>
                </a:lnSpc>
              </a:pPr>
              <a:r>
                <a:rPr lang="en-US" sz="18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0.7309 ± 0.0501 / 0.6829 ± 0.0543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505806" y="3659640"/>
            <a:ext cx="8451466" cy="659263"/>
            <a:chOff x="0" y="0"/>
            <a:chExt cx="11268621" cy="87901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268583" cy="878967"/>
            </a:xfrm>
            <a:custGeom>
              <a:avLst/>
              <a:gdLst/>
              <a:ahLst/>
              <a:cxnLst/>
              <a:rect r="r" b="b" t="t" l="l"/>
              <a:pathLst>
                <a:path h="878967" w="11268583">
                  <a:moveTo>
                    <a:pt x="0" y="0"/>
                  </a:moveTo>
                  <a:lnTo>
                    <a:pt x="11268583" y="0"/>
                  </a:lnTo>
                  <a:lnTo>
                    <a:pt x="11268583" y="878967"/>
                  </a:lnTo>
                  <a:lnTo>
                    <a:pt x="0" y="878967"/>
                  </a:lnTo>
                  <a:close/>
                </a:path>
              </a:pathLst>
            </a:custGeom>
            <a:solidFill>
              <a:srgbClr val="F7FAFC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647833" y="3787951"/>
            <a:ext cx="5233997" cy="485011"/>
            <a:chOff x="0" y="0"/>
            <a:chExt cx="6978663" cy="64668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978666" cy="646678"/>
            </a:xfrm>
            <a:custGeom>
              <a:avLst/>
              <a:gdLst/>
              <a:ahLst/>
              <a:cxnLst/>
              <a:rect r="r" b="b" t="t" l="l"/>
              <a:pathLst>
                <a:path h="646678" w="6978666">
                  <a:moveTo>
                    <a:pt x="0" y="0"/>
                  </a:moveTo>
                  <a:lnTo>
                    <a:pt x="6978666" y="0"/>
                  </a:lnTo>
                  <a:lnTo>
                    <a:pt x="697866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73" r="0" b="-16027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6978663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Accuracy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56711" y="3719502"/>
            <a:ext cx="2279323" cy="677568"/>
            <a:chOff x="0" y="0"/>
            <a:chExt cx="3039097" cy="90342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39096" cy="903419"/>
            </a:xfrm>
            <a:custGeom>
              <a:avLst/>
              <a:gdLst/>
              <a:ahLst/>
              <a:cxnLst/>
              <a:rect r="r" b="b" t="t" l="l"/>
              <a:pathLst>
                <a:path h="903419" w="3039096">
                  <a:moveTo>
                    <a:pt x="0" y="0"/>
                  </a:moveTo>
                  <a:lnTo>
                    <a:pt x="3039096" y="0"/>
                  </a:lnTo>
                  <a:lnTo>
                    <a:pt x="3039096" y="903419"/>
                  </a:lnTo>
                  <a:lnTo>
                    <a:pt x="0" y="903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56" r="0" b="-133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9525"/>
              <a:ext cx="3039097" cy="893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97"/>
                </a:lnSpc>
              </a:pPr>
              <a:r>
                <a:rPr lang="en-US" sz="18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0.7278 ± 0.0735 / 0.7304 ± 0.0295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510568" y="4694539"/>
            <a:ext cx="4392549" cy="388046"/>
            <a:chOff x="0" y="0"/>
            <a:chExt cx="5856732" cy="51739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856736" cy="517386"/>
            </a:xfrm>
            <a:custGeom>
              <a:avLst/>
              <a:gdLst/>
              <a:ahLst/>
              <a:cxnLst/>
              <a:rect r="r" b="b" t="t" l="l"/>
              <a:pathLst>
                <a:path h="517386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517386"/>
                  </a:lnTo>
                  <a:lnTo>
                    <a:pt x="0" y="5173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92" r="0" b="-15594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5856732" cy="5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1"/>
                </a:lnSpc>
              </a:pPr>
              <a:r>
                <a:rPr lang="en-US" sz="1775">
                  <a:solidFill>
                    <a:srgbClr val="3A7A8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SIGNIFICANCE TESTS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505806" y="5183934"/>
            <a:ext cx="8451466" cy="659263"/>
            <a:chOff x="0" y="0"/>
            <a:chExt cx="11268621" cy="87901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1268583" cy="878967"/>
            </a:xfrm>
            <a:custGeom>
              <a:avLst/>
              <a:gdLst/>
              <a:ahLst/>
              <a:cxnLst/>
              <a:rect r="r" b="b" t="t" l="l"/>
              <a:pathLst>
                <a:path h="878967" w="11268583">
                  <a:moveTo>
                    <a:pt x="0" y="0"/>
                  </a:moveTo>
                  <a:lnTo>
                    <a:pt x="11268583" y="0"/>
                  </a:lnTo>
                  <a:lnTo>
                    <a:pt x="11268583" y="878967"/>
                  </a:lnTo>
                  <a:lnTo>
                    <a:pt x="0" y="878967"/>
                  </a:lnTo>
                  <a:close/>
                </a:path>
              </a:pathLst>
            </a:custGeom>
            <a:solidFill>
              <a:srgbClr val="3A7A85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8647833" y="5312245"/>
            <a:ext cx="5233997" cy="485011"/>
            <a:chOff x="0" y="0"/>
            <a:chExt cx="6978663" cy="64668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978666" cy="646678"/>
            </a:xfrm>
            <a:custGeom>
              <a:avLst/>
              <a:gdLst/>
              <a:ahLst/>
              <a:cxnLst/>
              <a:rect r="r" b="b" t="t" l="l"/>
              <a:pathLst>
                <a:path h="646678" w="6978666">
                  <a:moveTo>
                    <a:pt x="0" y="0"/>
                  </a:moveTo>
                  <a:lnTo>
                    <a:pt x="6978666" y="0"/>
                  </a:lnTo>
                  <a:lnTo>
                    <a:pt x="697866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73" r="0" b="-16027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6978663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Test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763456" y="5353138"/>
            <a:ext cx="2279323" cy="485011"/>
            <a:chOff x="0" y="0"/>
            <a:chExt cx="3039097" cy="64668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039096" cy="646678"/>
            </a:xfrm>
            <a:custGeom>
              <a:avLst/>
              <a:gdLst/>
              <a:ahLst/>
              <a:cxnLst/>
              <a:rect r="r" b="b" t="t" l="l"/>
              <a:pathLst>
                <a:path h="646678" w="3039096">
                  <a:moveTo>
                    <a:pt x="0" y="0"/>
                  </a:moveTo>
                  <a:lnTo>
                    <a:pt x="3039096" y="0"/>
                  </a:lnTo>
                  <a:lnTo>
                    <a:pt x="303909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0" r="0" b="-4157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039097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65"/>
                </a:lnSpc>
              </a:pPr>
              <a:r>
                <a:rPr lang="en-US" sz="1971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Result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505806" y="5833662"/>
            <a:ext cx="8451466" cy="659263"/>
            <a:chOff x="0" y="0"/>
            <a:chExt cx="11268621" cy="87901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68583" cy="878967"/>
            </a:xfrm>
            <a:custGeom>
              <a:avLst/>
              <a:gdLst/>
              <a:ahLst/>
              <a:cxnLst/>
              <a:rect r="r" b="b" t="t" l="l"/>
              <a:pathLst>
                <a:path h="878967" w="11268583">
                  <a:moveTo>
                    <a:pt x="0" y="0"/>
                  </a:moveTo>
                  <a:lnTo>
                    <a:pt x="11268583" y="0"/>
                  </a:lnTo>
                  <a:lnTo>
                    <a:pt x="11268583" y="878967"/>
                  </a:lnTo>
                  <a:lnTo>
                    <a:pt x="0" y="878967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8647833" y="5961974"/>
            <a:ext cx="5233997" cy="485011"/>
            <a:chOff x="0" y="0"/>
            <a:chExt cx="6978663" cy="64668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978666" cy="646678"/>
            </a:xfrm>
            <a:custGeom>
              <a:avLst/>
              <a:gdLst/>
              <a:ahLst/>
              <a:cxnLst/>
              <a:rect r="r" b="b" t="t" l="l"/>
              <a:pathLst>
                <a:path h="646678" w="6978666">
                  <a:moveTo>
                    <a:pt x="0" y="0"/>
                  </a:moveTo>
                  <a:lnTo>
                    <a:pt x="6978666" y="0"/>
                  </a:lnTo>
                  <a:lnTo>
                    <a:pt x="697866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73" r="0" b="-16027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6978663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McNemar fixed test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641056" y="5993999"/>
            <a:ext cx="4036914" cy="485011"/>
            <a:chOff x="0" y="0"/>
            <a:chExt cx="5382552" cy="64668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382550" cy="646678"/>
            </a:xfrm>
            <a:custGeom>
              <a:avLst/>
              <a:gdLst/>
              <a:ahLst/>
              <a:cxnLst/>
              <a:rect r="r" b="b" t="t" l="l"/>
              <a:pathLst>
                <a:path h="646678" w="5382550">
                  <a:moveTo>
                    <a:pt x="0" y="0"/>
                  </a:moveTo>
                  <a:lnTo>
                    <a:pt x="5382550" y="0"/>
                  </a:lnTo>
                  <a:lnTo>
                    <a:pt x="5382550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0" r="43537" b="-41571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5382552" cy="63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7"/>
                </a:lnSpc>
              </a:pPr>
              <a:r>
                <a:rPr lang="en-US" sz="20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 = 0.000004, significant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8505806" y="6483401"/>
            <a:ext cx="8451466" cy="659263"/>
            <a:chOff x="0" y="0"/>
            <a:chExt cx="11268621" cy="87901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1268583" cy="878967"/>
            </a:xfrm>
            <a:custGeom>
              <a:avLst/>
              <a:gdLst/>
              <a:ahLst/>
              <a:cxnLst/>
              <a:rect r="r" b="b" t="t" l="l"/>
              <a:pathLst>
                <a:path h="878967" w="11268583">
                  <a:moveTo>
                    <a:pt x="0" y="0"/>
                  </a:moveTo>
                  <a:lnTo>
                    <a:pt x="11268583" y="0"/>
                  </a:lnTo>
                  <a:lnTo>
                    <a:pt x="11268583" y="878967"/>
                  </a:lnTo>
                  <a:lnTo>
                    <a:pt x="0" y="878967"/>
                  </a:lnTo>
                  <a:close/>
                </a:path>
              </a:pathLst>
            </a:custGeom>
            <a:solidFill>
              <a:srgbClr val="F7FAFC"/>
            </a:solidFill>
            <a:ln w="9532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8647833" y="6611703"/>
            <a:ext cx="5233997" cy="485011"/>
            <a:chOff x="0" y="0"/>
            <a:chExt cx="6978663" cy="64668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978666" cy="646678"/>
            </a:xfrm>
            <a:custGeom>
              <a:avLst/>
              <a:gdLst/>
              <a:ahLst/>
              <a:cxnLst/>
              <a:rect r="r" b="b" t="t" l="l"/>
              <a:pathLst>
                <a:path h="646678" w="6978666">
                  <a:moveTo>
                    <a:pt x="0" y="0"/>
                  </a:moveTo>
                  <a:lnTo>
                    <a:pt x="6978666" y="0"/>
                  </a:lnTo>
                  <a:lnTo>
                    <a:pt x="6978666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273" r="0" b="-16027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6978663" cy="64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29"/>
                </a:lnSpc>
              </a:pPr>
              <a:r>
                <a:rPr lang="en-US" sz="194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Wilcoxon 5-fold Macro-F1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111439" y="6570528"/>
            <a:ext cx="3623681" cy="485011"/>
            <a:chOff x="0" y="0"/>
            <a:chExt cx="4831574" cy="64668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831573" cy="646678"/>
            </a:xfrm>
            <a:custGeom>
              <a:avLst/>
              <a:gdLst/>
              <a:ahLst/>
              <a:cxnLst/>
              <a:rect r="r" b="b" t="t" l="l"/>
              <a:pathLst>
                <a:path h="646678" w="4831573">
                  <a:moveTo>
                    <a:pt x="0" y="0"/>
                  </a:moveTo>
                  <a:lnTo>
                    <a:pt x="4831573" y="0"/>
                  </a:lnTo>
                  <a:lnTo>
                    <a:pt x="4831573" y="646678"/>
                  </a:lnTo>
                  <a:lnTo>
                    <a:pt x="0" y="646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70" r="37099" b="-41571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9525"/>
              <a:ext cx="4831574" cy="6371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7"/>
                </a:lnSpc>
              </a:pPr>
              <a:r>
                <a:rPr lang="en-US" sz="2031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 = 0.3125, not significant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504853" y="7708697"/>
            <a:ext cx="8754447" cy="1549603"/>
            <a:chOff x="0" y="0"/>
            <a:chExt cx="11672595" cy="206613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672684" cy="2066214"/>
            </a:xfrm>
            <a:custGeom>
              <a:avLst/>
              <a:gdLst/>
              <a:ahLst/>
              <a:cxnLst/>
              <a:rect r="r" b="b" t="t" l="l"/>
              <a:pathLst>
                <a:path h="2066214" w="11672684">
                  <a:moveTo>
                    <a:pt x="0" y="254364"/>
                  </a:moveTo>
                  <a:cubicBezTo>
                    <a:pt x="0" y="113897"/>
                    <a:pt x="68787" y="0"/>
                    <a:pt x="153619" y="0"/>
                  </a:cubicBezTo>
                  <a:lnTo>
                    <a:pt x="11519068" y="0"/>
                  </a:lnTo>
                  <a:cubicBezTo>
                    <a:pt x="11603901" y="0"/>
                    <a:pt x="11672684" y="113897"/>
                    <a:pt x="11672684" y="254364"/>
                  </a:cubicBezTo>
                  <a:lnTo>
                    <a:pt x="11672684" y="1811905"/>
                  </a:lnTo>
                  <a:cubicBezTo>
                    <a:pt x="11672684" y="1952371"/>
                    <a:pt x="11603901" y="2066214"/>
                    <a:pt x="11519068" y="2066214"/>
                  </a:cubicBezTo>
                  <a:lnTo>
                    <a:pt x="153619" y="2066214"/>
                  </a:lnTo>
                  <a:cubicBezTo>
                    <a:pt x="68787" y="2066051"/>
                    <a:pt x="0" y="1952371"/>
                    <a:pt x="0" y="1811905"/>
                  </a:cubicBezTo>
                  <a:close/>
                </a:path>
              </a:pathLst>
            </a:custGeom>
            <a:solidFill>
              <a:srgbClr val="F7F3ED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8702745" y="7879137"/>
            <a:ext cx="8571021" cy="1248223"/>
            <a:chOff x="0" y="0"/>
            <a:chExt cx="11428028" cy="166429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428026" cy="1664289"/>
            </a:xfrm>
            <a:custGeom>
              <a:avLst/>
              <a:gdLst/>
              <a:ahLst/>
              <a:cxnLst/>
              <a:rect r="r" b="b" t="t" l="l"/>
              <a:pathLst>
                <a:path h="1664289" w="11428026">
                  <a:moveTo>
                    <a:pt x="0" y="0"/>
                  </a:moveTo>
                  <a:lnTo>
                    <a:pt x="11428026" y="0"/>
                  </a:lnTo>
                  <a:lnTo>
                    <a:pt x="11428026" y="1664289"/>
                  </a:lnTo>
                  <a:lnTo>
                    <a:pt x="0" y="1664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37" r="5990" b="-5052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11428028" cy="1664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1"/>
                </a:lnSpc>
              </a:pPr>
              <a:r>
                <a:rPr lang="en-US" sz="23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Honest interpretation: the final GCN improved a lot over the first GCN, but the fixed-test and CV evidence do not show that it beats ResNet18.</a:t>
              </a:r>
            </a:p>
          </p:txBody>
        </p:sp>
      </p:grpSp>
      <p:sp>
        <p:nvSpPr>
          <p:cNvPr name="AutoShape 119" id="119"/>
          <p:cNvSpPr/>
          <p:nvPr/>
        </p:nvSpPr>
        <p:spPr>
          <a:xfrm>
            <a:off x="679659" y="9711884"/>
            <a:ext cx="16277613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0" id="120"/>
          <p:cNvSpPr txBox="true"/>
          <p:nvPr/>
        </p:nvSpPr>
        <p:spPr>
          <a:xfrm rot="0">
            <a:off x="17273766" y="9419423"/>
            <a:ext cx="601001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302" y="1312200"/>
            <a:ext cx="16231081" cy="925352"/>
            <a:chOff x="0" y="0"/>
            <a:chExt cx="19949503" cy="11373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949506" cy="1137349"/>
            </a:xfrm>
            <a:custGeom>
              <a:avLst/>
              <a:gdLst/>
              <a:ahLst/>
              <a:cxnLst/>
              <a:rect r="r" b="b" t="t" l="l"/>
              <a:pathLst>
                <a:path h="1137349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1137349"/>
                  </a:lnTo>
                  <a:lnTo>
                    <a:pt x="0" y="11373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613" r="0" b="-26993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9949503" cy="11468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Explainability: correct vs wrong prediction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8760" y="2496799"/>
            <a:ext cx="8636723" cy="470838"/>
            <a:chOff x="0" y="0"/>
            <a:chExt cx="10615333" cy="5787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15333" cy="578704"/>
            </a:xfrm>
            <a:custGeom>
              <a:avLst/>
              <a:gdLst/>
              <a:ahLst/>
              <a:cxnLst/>
              <a:rect r="r" b="b" t="t" l="l"/>
              <a:pathLst>
                <a:path h="578704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578704"/>
                  </a:lnTo>
                  <a:lnTo>
                    <a:pt x="0" y="578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9468" r="0" b="-2953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0615333" cy="578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1"/>
                </a:lnSpc>
              </a:pPr>
              <a:r>
                <a:rPr lang="en-US" sz="2151">
                  <a:solidFill>
                    <a:srgbClr val="4B8B5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Correct: Lolyda.AA3 → Lolyda.AA3  |  confidence 0.9998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8760" y="3615337"/>
            <a:ext cx="8860088" cy="2233636"/>
            <a:chOff x="0" y="0"/>
            <a:chExt cx="10889869" cy="2745346"/>
          </a:xfrm>
        </p:grpSpPr>
        <p:sp>
          <p:nvSpPr>
            <p:cNvPr name="Freeform 9" id="9" descr="/mnt/data/final_ppt_assets/t3_p8_img1.jpeg"/>
            <p:cNvSpPr/>
            <p:nvPr/>
          </p:nvSpPr>
          <p:spPr>
            <a:xfrm flipH="false" flipV="false" rot="0">
              <a:off x="0" y="0"/>
              <a:ext cx="1088986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2745359"/>
                  </a:lnTo>
                  <a:lnTo>
                    <a:pt x="0" y="274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96" r="0" b="-99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60442" y="6217512"/>
            <a:ext cx="8636723" cy="444956"/>
            <a:chOff x="0" y="0"/>
            <a:chExt cx="10615333" cy="5468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15333" cy="546892"/>
            </a:xfrm>
            <a:custGeom>
              <a:avLst/>
              <a:gdLst/>
              <a:ahLst/>
              <a:cxnLst/>
              <a:rect r="r" b="b" t="t" l="l"/>
              <a:pathLst>
                <a:path h="546892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546892"/>
                  </a:lnTo>
                  <a:lnTo>
                    <a:pt x="0" y="5468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050" r="0" b="-3183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615333" cy="546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1"/>
                </a:lnSpc>
              </a:pPr>
              <a:r>
                <a:rPr lang="en-US" sz="2051">
                  <a:solidFill>
                    <a:srgbClr val="B94A4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Wrong: CoinMinerXMRig → Lolyda.AA2  |  confidence 0.9759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0760" y="6822255"/>
            <a:ext cx="8860088" cy="2233636"/>
            <a:chOff x="0" y="0"/>
            <a:chExt cx="10889869" cy="2745346"/>
          </a:xfrm>
        </p:grpSpPr>
        <p:sp>
          <p:nvSpPr>
            <p:cNvPr name="Freeform 14" id="14" descr="/mnt/data/final_ppt_assets/t3_p8_img2.jpeg"/>
            <p:cNvSpPr/>
            <p:nvPr/>
          </p:nvSpPr>
          <p:spPr>
            <a:xfrm flipH="false" flipV="false" rot="0">
              <a:off x="0" y="0"/>
              <a:ext cx="10889869" cy="2745359"/>
            </a:xfrm>
            <a:custGeom>
              <a:avLst/>
              <a:gdLst/>
              <a:ahLst/>
              <a:cxnLst/>
              <a:rect r="r" b="b" t="t" l="l"/>
              <a:pathLst>
                <a:path h="2745359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2745359"/>
                  </a:lnTo>
                  <a:lnTo>
                    <a:pt x="0" y="274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96" r="0" b="-99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853390" y="2652378"/>
            <a:ext cx="4765086" cy="456168"/>
            <a:chOff x="0" y="0"/>
            <a:chExt cx="5856732" cy="5606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6736" cy="560664"/>
            </a:xfrm>
            <a:custGeom>
              <a:avLst/>
              <a:gdLst/>
              <a:ahLst/>
              <a:cxnLst/>
              <a:rect r="r" b="b" t="t" l="l"/>
              <a:pathLst>
                <a:path h="560664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560664"/>
                  </a:lnTo>
                  <a:lnTo>
                    <a:pt x="0" y="560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97" r="0" b="-1361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856732" cy="560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>
                  <a:solidFill>
                    <a:srgbClr val="C65911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THE VIEWS SHOW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47180" y="3197135"/>
            <a:ext cx="8276862" cy="1278139"/>
            <a:chOff x="0" y="0"/>
            <a:chExt cx="10173030" cy="15709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72954" cy="1570863"/>
            </a:xfrm>
            <a:custGeom>
              <a:avLst/>
              <a:gdLst/>
              <a:ahLst/>
              <a:cxnLst/>
              <a:rect r="r" b="b" t="t" l="l"/>
              <a:pathLst>
                <a:path h="1570863" w="10172954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10025126" y="0"/>
                  </a:lnTo>
                  <a:cubicBezTo>
                    <a:pt x="10106787" y="0"/>
                    <a:pt x="10172954" y="66167"/>
                    <a:pt x="10172954" y="147828"/>
                  </a:cubicBezTo>
                  <a:lnTo>
                    <a:pt x="10172954" y="1423035"/>
                  </a:lnTo>
                  <a:cubicBezTo>
                    <a:pt x="10172954" y="1504696"/>
                    <a:pt x="10106787" y="1570863"/>
                    <a:pt x="10025126" y="1570863"/>
                  </a:cubicBezTo>
                  <a:lnTo>
                    <a:pt x="147828" y="1570863"/>
                  </a:lnTo>
                  <a:cubicBezTo>
                    <a:pt x="66167" y="1570990"/>
                    <a:pt x="0" y="1504696"/>
                    <a:pt x="0" y="1423035"/>
                  </a:cubicBezTo>
                  <a:close/>
                </a:path>
              </a:pathLst>
            </a:custGeom>
            <a:solidFill>
              <a:srgbClr val="F0F7F3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61865" y="3382030"/>
            <a:ext cx="7847502" cy="985461"/>
            <a:chOff x="0" y="0"/>
            <a:chExt cx="9645307" cy="12112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45311" cy="1211225"/>
            </a:xfrm>
            <a:custGeom>
              <a:avLst/>
              <a:gdLst/>
              <a:ahLst/>
              <a:cxnLst/>
              <a:rect r="r" b="b" t="t" l="l"/>
              <a:pathLst>
                <a:path h="1211225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211225"/>
                  </a:lnTo>
                  <a:lnTo>
                    <a:pt x="0" y="12112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055" r="0" b="-1042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645307" cy="12112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Correct example: lower structured regions are consistently important across Grad-CAM, patch importance and node occlusion.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47180" y="4835135"/>
            <a:ext cx="8276862" cy="1382377"/>
            <a:chOff x="0" y="0"/>
            <a:chExt cx="10173030" cy="16990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72954" cy="1699006"/>
            </a:xfrm>
            <a:custGeom>
              <a:avLst/>
              <a:gdLst/>
              <a:ahLst/>
              <a:cxnLst/>
              <a:rect r="r" b="b" t="t" l="l"/>
              <a:pathLst>
                <a:path h="1699006" w="1017295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025253" y="0"/>
                  </a:lnTo>
                  <a:cubicBezTo>
                    <a:pt x="10106914" y="0"/>
                    <a:pt x="10172954" y="66167"/>
                    <a:pt x="10172954" y="147701"/>
                  </a:cubicBezTo>
                  <a:lnTo>
                    <a:pt x="10172954" y="1551305"/>
                  </a:lnTo>
                  <a:cubicBezTo>
                    <a:pt x="10172954" y="1632966"/>
                    <a:pt x="10106787" y="1699006"/>
                    <a:pt x="10025253" y="1699006"/>
                  </a:cubicBezTo>
                  <a:lnTo>
                    <a:pt x="147701" y="1699006"/>
                  </a:lnTo>
                  <a:cubicBezTo>
                    <a:pt x="66167" y="1699006"/>
                    <a:pt x="0" y="1632966"/>
                    <a:pt x="0" y="1551305"/>
                  </a:cubicBezTo>
                  <a:close/>
                </a:path>
              </a:pathLst>
            </a:custGeom>
            <a:solidFill>
              <a:srgbClr val="F8F4EE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061865" y="5020031"/>
            <a:ext cx="7847502" cy="1072144"/>
            <a:chOff x="0" y="0"/>
            <a:chExt cx="9645307" cy="13177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45311" cy="1317765"/>
            </a:xfrm>
            <a:custGeom>
              <a:avLst/>
              <a:gdLst/>
              <a:ahLst/>
              <a:cxnLst/>
              <a:rect r="r" b="b" t="t" l="l"/>
              <a:pathLst>
                <a:path h="1317765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317765"/>
                  </a:lnTo>
                  <a:lnTo>
                    <a:pt x="0" y="1317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619" r="0" b="-9261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645307" cy="1317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18202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Wrong example: importance is more distributed, and the model is highly confident despite focusing on texture that is not specific enough.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47180" y="6919866"/>
            <a:ext cx="8276862" cy="1471715"/>
            <a:chOff x="0" y="0"/>
            <a:chExt cx="10173030" cy="18088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73081" cy="1808861"/>
            </a:xfrm>
            <a:custGeom>
              <a:avLst/>
              <a:gdLst/>
              <a:ahLst/>
              <a:cxnLst/>
              <a:rect r="r" b="b" t="t" l="l"/>
              <a:pathLst>
                <a:path h="1808861" w="10173081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025380" y="0"/>
                  </a:lnTo>
                  <a:cubicBezTo>
                    <a:pt x="10106914" y="0"/>
                    <a:pt x="10173081" y="66167"/>
                    <a:pt x="10173081" y="147701"/>
                  </a:cubicBezTo>
                  <a:lnTo>
                    <a:pt x="10173081" y="1661160"/>
                  </a:lnTo>
                  <a:cubicBezTo>
                    <a:pt x="10173081" y="1742694"/>
                    <a:pt x="10106914" y="1808861"/>
                    <a:pt x="10025380" y="1808861"/>
                  </a:cubicBezTo>
                  <a:lnTo>
                    <a:pt x="147701" y="1808861"/>
                  </a:lnTo>
                  <a:cubicBezTo>
                    <a:pt x="66167" y="1808861"/>
                    <a:pt x="0" y="1742821"/>
                    <a:pt x="0" y="1661160"/>
                  </a:cubicBezTo>
                  <a:close/>
                </a:path>
              </a:pathLst>
            </a:custGeom>
            <a:solidFill>
              <a:srgbClr val="F2F7FB"/>
            </a:solidFill>
            <a:ln w="11439" cap="sq">
              <a:solidFill>
                <a:srgbClr val="CAD6E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061865" y="7104751"/>
            <a:ext cx="7847502" cy="1161492"/>
            <a:chOff x="0" y="0"/>
            <a:chExt cx="9645307" cy="142758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45311" cy="1427579"/>
            </a:xfrm>
            <a:custGeom>
              <a:avLst/>
              <a:gdLst/>
              <a:ahLst/>
              <a:cxnLst/>
              <a:rect r="r" b="b" t="t" l="l"/>
              <a:pathLst>
                <a:path h="1427579" w="9645311">
                  <a:moveTo>
                    <a:pt x="0" y="0"/>
                  </a:moveTo>
                  <a:lnTo>
                    <a:pt x="9645311" y="0"/>
                  </a:lnTo>
                  <a:lnTo>
                    <a:pt x="9645311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648" r="0" b="-8164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9645307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Limitation: a highlighted patch is evidence of model sensitivity in the image representation, not a specific malware function, code block or causal program behavior.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679659" y="9711884"/>
            <a:ext cx="16208801" cy="0"/>
          </a:xfrm>
          <a:prstGeom prst="line">
            <a:avLst/>
          </a:prstGeom>
          <a:ln cap="rnd" w="9525">
            <a:solidFill>
              <a:srgbClr val="D6DC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7304457" y="9419423"/>
            <a:ext cx="539618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452628"/>
            <a:ext cx="14813280" cy="941501"/>
            <a:chOff x="0" y="0"/>
            <a:chExt cx="19751040" cy="12553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51039" cy="1255335"/>
            </a:xfrm>
            <a:custGeom>
              <a:avLst/>
              <a:gdLst/>
              <a:ahLst/>
              <a:cxnLst/>
              <a:rect r="r" b="b" t="t" l="l"/>
              <a:pathLst>
                <a:path h="125533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255335"/>
                  </a:lnTo>
                  <a:lnTo>
                    <a:pt x="0" y="1255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78" r="0" b="-23716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751040" cy="1255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Pillar A and Pillar B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2032" y="1844992"/>
            <a:ext cx="7488555" cy="1384935"/>
            <a:chOff x="0" y="0"/>
            <a:chExt cx="9984740" cy="18465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84740" cy="1846580"/>
            </a:xfrm>
            <a:custGeom>
              <a:avLst/>
              <a:gdLst/>
              <a:ahLst/>
              <a:cxnLst/>
              <a:rect r="r" b="b" t="t" l="l"/>
              <a:pathLst>
                <a:path h="1846580" w="998474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9837039" y="0"/>
                  </a:lnTo>
                  <a:cubicBezTo>
                    <a:pt x="9918573" y="0"/>
                    <a:pt x="9984740" y="66167"/>
                    <a:pt x="9984740" y="147701"/>
                  </a:cubicBezTo>
                  <a:lnTo>
                    <a:pt x="9984740" y="1698879"/>
                  </a:lnTo>
                  <a:cubicBezTo>
                    <a:pt x="9984740" y="1780413"/>
                    <a:pt x="9918573" y="1846580"/>
                    <a:pt x="9837039" y="1846580"/>
                  </a:cubicBezTo>
                  <a:lnTo>
                    <a:pt x="147701" y="1846580"/>
                  </a:lnTo>
                  <a:cubicBezTo>
                    <a:pt x="66167" y="1846580"/>
                    <a:pt x="0" y="1780413"/>
                    <a:pt x="0" y="1698879"/>
                  </a:cubicBezTo>
                  <a:close/>
                </a:path>
              </a:pathLst>
            </a:custGeom>
            <a:solidFill>
              <a:srgbClr val="F8F4EE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20724" y="1815456"/>
            <a:ext cx="7091172" cy="1444009"/>
            <a:chOff x="0" y="0"/>
            <a:chExt cx="9454896" cy="19253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54896" cy="1925345"/>
            </a:xfrm>
            <a:custGeom>
              <a:avLst/>
              <a:gdLst/>
              <a:ahLst/>
              <a:cxnLst/>
              <a:rect r="r" b="b" t="t" l="l"/>
              <a:pathLst>
                <a:path h="1925345" w="9454896">
                  <a:moveTo>
                    <a:pt x="0" y="0"/>
                  </a:moveTo>
                  <a:lnTo>
                    <a:pt x="9454896" y="0"/>
                  </a:lnTo>
                  <a:lnTo>
                    <a:pt x="9454896" y="1925345"/>
                  </a:lnTo>
                  <a:lnTo>
                    <a:pt x="0" y="1925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42" r="0" b="-346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454896" cy="1925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9"/>
                </a:lnSpc>
              </a:pPr>
              <a:r>
                <a:rPr lang="en-US" sz="2074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Pillar A: No same-dataset published result was available among the five Track-2 related works, so a fair Beat / Match / Below category against published work cannot be established.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9677" y="3904297"/>
            <a:ext cx="6181725" cy="434721"/>
            <a:chOff x="0" y="0"/>
            <a:chExt cx="8242300" cy="5796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42300" cy="579628"/>
            </a:xfrm>
            <a:custGeom>
              <a:avLst/>
              <a:gdLst/>
              <a:ahLst/>
              <a:cxnLst/>
              <a:rect r="r" b="b" t="t" l="l"/>
              <a:pathLst>
                <a:path h="579628" w="8242300">
                  <a:moveTo>
                    <a:pt x="0" y="0"/>
                  </a:moveTo>
                  <a:lnTo>
                    <a:pt x="8242300" y="0"/>
                  </a:lnTo>
                  <a:lnTo>
                    <a:pt x="8242300" y="579628"/>
                  </a:lnTo>
                  <a:lnTo>
                    <a:pt x="0" y="579628"/>
                  </a:lnTo>
                  <a:close/>
                </a:path>
              </a:pathLst>
            </a:custGeom>
            <a:solidFill>
              <a:srgbClr val="1F4E79"/>
            </a:solidFill>
            <a:ln w="9525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44168" y="4005072"/>
            <a:ext cx="3579876" cy="388320"/>
            <a:chOff x="0" y="0"/>
            <a:chExt cx="4773168" cy="5177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73168" cy="517759"/>
            </a:xfrm>
            <a:custGeom>
              <a:avLst/>
              <a:gdLst/>
              <a:ahLst/>
              <a:cxnLst/>
              <a:rect r="r" b="b" t="t" l="l"/>
              <a:pathLst>
                <a:path h="517759" w="4773168">
                  <a:moveTo>
                    <a:pt x="0" y="0"/>
                  </a:moveTo>
                  <a:lnTo>
                    <a:pt x="4773168" y="0"/>
                  </a:lnTo>
                  <a:lnTo>
                    <a:pt x="4773168" y="517759"/>
                  </a:lnTo>
                  <a:lnTo>
                    <a:pt x="0" y="517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542" r="0" b="-1167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773168" cy="50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5"/>
                </a:lnSpc>
              </a:pPr>
              <a:r>
                <a:rPr lang="en-US" sz="177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Internal comparison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84648" y="4005072"/>
            <a:ext cx="1913382" cy="388320"/>
            <a:chOff x="0" y="0"/>
            <a:chExt cx="2551176" cy="5177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51176" cy="517759"/>
            </a:xfrm>
            <a:custGeom>
              <a:avLst/>
              <a:gdLst/>
              <a:ahLst/>
              <a:cxnLst/>
              <a:rect r="r" b="b" t="t" l="l"/>
              <a:pathLst>
                <a:path h="517759" w="2551176">
                  <a:moveTo>
                    <a:pt x="0" y="0"/>
                  </a:moveTo>
                  <a:lnTo>
                    <a:pt x="2551176" y="0"/>
                  </a:lnTo>
                  <a:lnTo>
                    <a:pt x="2551176" y="517759"/>
                  </a:lnTo>
                  <a:lnTo>
                    <a:pt x="0" y="517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1" r="0" b="-33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2551176" cy="50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35"/>
                </a:lnSpc>
              </a:pPr>
              <a:r>
                <a:rPr lang="en-US" sz="177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Macro-F1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9677" y="4329494"/>
            <a:ext cx="6181725" cy="434721"/>
            <a:chOff x="0" y="0"/>
            <a:chExt cx="8242300" cy="579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42300" cy="579628"/>
            </a:xfrm>
            <a:custGeom>
              <a:avLst/>
              <a:gdLst/>
              <a:ahLst/>
              <a:cxnLst/>
              <a:rect r="r" b="b" t="t" l="l"/>
              <a:pathLst>
                <a:path h="579628" w="8242300">
                  <a:moveTo>
                    <a:pt x="0" y="0"/>
                  </a:moveTo>
                  <a:lnTo>
                    <a:pt x="8242300" y="0"/>
                  </a:lnTo>
                  <a:lnTo>
                    <a:pt x="8242300" y="579628"/>
                  </a:lnTo>
                  <a:lnTo>
                    <a:pt x="0" y="5796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4430268"/>
            <a:ext cx="3579876" cy="376745"/>
            <a:chOff x="0" y="0"/>
            <a:chExt cx="4773168" cy="5023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73168" cy="502326"/>
            </a:xfrm>
            <a:custGeom>
              <a:avLst/>
              <a:gdLst/>
              <a:ahLst/>
              <a:cxnLst/>
              <a:rect r="r" b="b" t="t" l="l"/>
              <a:pathLst>
                <a:path h="502326" w="4773168">
                  <a:moveTo>
                    <a:pt x="0" y="0"/>
                  </a:moveTo>
                  <a:lnTo>
                    <a:pt x="4773168" y="0"/>
                  </a:lnTo>
                  <a:lnTo>
                    <a:pt x="4773168" y="502326"/>
                  </a:lnTo>
                  <a:lnTo>
                    <a:pt x="0" y="502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22" r="0" b="-12337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4773168" cy="492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First PatchGCN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84648" y="4430268"/>
            <a:ext cx="1913382" cy="388320"/>
            <a:chOff x="0" y="0"/>
            <a:chExt cx="2551176" cy="5177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51176" cy="517759"/>
            </a:xfrm>
            <a:custGeom>
              <a:avLst/>
              <a:gdLst/>
              <a:ahLst/>
              <a:cxnLst/>
              <a:rect r="r" b="b" t="t" l="l"/>
              <a:pathLst>
                <a:path h="517759" w="2551176">
                  <a:moveTo>
                    <a:pt x="0" y="0"/>
                  </a:moveTo>
                  <a:lnTo>
                    <a:pt x="2551176" y="0"/>
                  </a:lnTo>
                  <a:lnTo>
                    <a:pt x="2551176" y="517759"/>
                  </a:lnTo>
                  <a:lnTo>
                    <a:pt x="0" y="517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1" r="0" b="-3309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2551176" cy="50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35"/>
                </a:lnSpc>
              </a:pPr>
              <a:r>
                <a:rPr lang="en-US" sz="177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0.3771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9677" y="4754690"/>
            <a:ext cx="6181725" cy="434721"/>
            <a:chOff x="0" y="0"/>
            <a:chExt cx="8242300" cy="5796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42300" cy="579628"/>
            </a:xfrm>
            <a:custGeom>
              <a:avLst/>
              <a:gdLst/>
              <a:ahLst/>
              <a:cxnLst/>
              <a:rect r="r" b="b" t="t" l="l"/>
              <a:pathLst>
                <a:path h="579628" w="8242300">
                  <a:moveTo>
                    <a:pt x="0" y="0"/>
                  </a:moveTo>
                  <a:lnTo>
                    <a:pt x="8242300" y="0"/>
                  </a:lnTo>
                  <a:lnTo>
                    <a:pt x="8242300" y="579628"/>
                  </a:lnTo>
                  <a:lnTo>
                    <a:pt x="0" y="579628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44168" y="4855464"/>
            <a:ext cx="3579876" cy="376745"/>
            <a:chOff x="0" y="0"/>
            <a:chExt cx="4773168" cy="5023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73168" cy="502326"/>
            </a:xfrm>
            <a:custGeom>
              <a:avLst/>
              <a:gdLst/>
              <a:ahLst/>
              <a:cxnLst/>
              <a:rect r="r" b="b" t="t" l="l"/>
              <a:pathLst>
                <a:path h="502326" w="4773168">
                  <a:moveTo>
                    <a:pt x="0" y="0"/>
                  </a:moveTo>
                  <a:lnTo>
                    <a:pt x="4773168" y="0"/>
                  </a:lnTo>
                  <a:lnTo>
                    <a:pt x="4773168" y="502326"/>
                  </a:lnTo>
                  <a:lnTo>
                    <a:pt x="0" y="502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22" r="0" b="-12337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4773168" cy="492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CNN-only ablation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84648" y="4855464"/>
            <a:ext cx="1913382" cy="388320"/>
            <a:chOff x="0" y="0"/>
            <a:chExt cx="2551176" cy="5177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51176" cy="517759"/>
            </a:xfrm>
            <a:custGeom>
              <a:avLst/>
              <a:gdLst/>
              <a:ahLst/>
              <a:cxnLst/>
              <a:rect r="r" b="b" t="t" l="l"/>
              <a:pathLst>
                <a:path h="517759" w="2551176">
                  <a:moveTo>
                    <a:pt x="0" y="0"/>
                  </a:moveTo>
                  <a:lnTo>
                    <a:pt x="2551176" y="0"/>
                  </a:lnTo>
                  <a:lnTo>
                    <a:pt x="2551176" y="517759"/>
                  </a:lnTo>
                  <a:lnTo>
                    <a:pt x="0" y="517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1" r="0" b="-3309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2551176" cy="50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35"/>
                </a:lnSpc>
              </a:pPr>
              <a:r>
                <a:rPr lang="en-US" sz="177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0.7191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9677" y="5179886"/>
            <a:ext cx="6181725" cy="434721"/>
            <a:chOff x="0" y="0"/>
            <a:chExt cx="8242300" cy="5796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42300" cy="579628"/>
            </a:xfrm>
            <a:custGeom>
              <a:avLst/>
              <a:gdLst/>
              <a:ahLst/>
              <a:cxnLst/>
              <a:rect r="r" b="b" t="t" l="l"/>
              <a:pathLst>
                <a:path h="579628" w="8242300">
                  <a:moveTo>
                    <a:pt x="0" y="0"/>
                  </a:moveTo>
                  <a:lnTo>
                    <a:pt x="8242300" y="0"/>
                  </a:lnTo>
                  <a:lnTo>
                    <a:pt x="8242300" y="579628"/>
                  </a:lnTo>
                  <a:lnTo>
                    <a:pt x="0" y="579628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44168" y="5280660"/>
            <a:ext cx="3579876" cy="376745"/>
            <a:chOff x="0" y="0"/>
            <a:chExt cx="4773168" cy="50232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73168" cy="502326"/>
            </a:xfrm>
            <a:custGeom>
              <a:avLst/>
              <a:gdLst/>
              <a:ahLst/>
              <a:cxnLst/>
              <a:rect r="r" b="b" t="t" l="l"/>
              <a:pathLst>
                <a:path h="502326" w="4773168">
                  <a:moveTo>
                    <a:pt x="0" y="0"/>
                  </a:moveTo>
                  <a:lnTo>
                    <a:pt x="4773168" y="0"/>
                  </a:lnTo>
                  <a:lnTo>
                    <a:pt x="4773168" y="502326"/>
                  </a:lnTo>
                  <a:lnTo>
                    <a:pt x="0" y="502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22" r="0" b="-12337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4773168" cy="492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GCN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84648" y="5280660"/>
            <a:ext cx="1913382" cy="388320"/>
            <a:chOff x="0" y="0"/>
            <a:chExt cx="2551176" cy="5177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51176" cy="517759"/>
            </a:xfrm>
            <a:custGeom>
              <a:avLst/>
              <a:gdLst/>
              <a:ahLst/>
              <a:cxnLst/>
              <a:rect r="r" b="b" t="t" l="l"/>
              <a:pathLst>
                <a:path h="517759" w="2551176">
                  <a:moveTo>
                    <a:pt x="0" y="0"/>
                  </a:moveTo>
                  <a:lnTo>
                    <a:pt x="2551176" y="0"/>
                  </a:lnTo>
                  <a:lnTo>
                    <a:pt x="2551176" y="517759"/>
                  </a:lnTo>
                  <a:lnTo>
                    <a:pt x="0" y="517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1" r="0" b="-3309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2551176" cy="50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35"/>
                </a:lnSpc>
              </a:pPr>
              <a:r>
                <a:rPr lang="en-US" sz="177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0.7857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9677" y="5605082"/>
            <a:ext cx="6181725" cy="434721"/>
            <a:chOff x="0" y="0"/>
            <a:chExt cx="8242300" cy="5796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242300" cy="579628"/>
            </a:xfrm>
            <a:custGeom>
              <a:avLst/>
              <a:gdLst/>
              <a:ahLst/>
              <a:cxnLst/>
              <a:rect r="r" b="b" t="t" l="l"/>
              <a:pathLst>
                <a:path h="579628" w="8242300">
                  <a:moveTo>
                    <a:pt x="0" y="0"/>
                  </a:moveTo>
                  <a:lnTo>
                    <a:pt x="8242300" y="0"/>
                  </a:lnTo>
                  <a:lnTo>
                    <a:pt x="8242300" y="579628"/>
                  </a:lnTo>
                  <a:lnTo>
                    <a:pt x="0" y="579628"/>
                  </a:lnTo>
                  <a:close/>
                </a:path>
              </a:pathLst>
            </a:custGeom>
            <a:solidFill>
              <a:srgbClr val="F7FAFC"/>
            </a:solidFill>
            <a:ln w="9525" cap="sq">
              <a:solidFill>
                <a:srgbClr val="D6DEE8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44168" y="5705856"/>
            <a:ext cx="3579876" cy="376745"/>
            <a:chOff x="0" y="0"/>
            <a:chExt cx="4773168" cy="50232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73168" cy="502326"/>
            </a:xfrm>
            <a:custGeom>
              <a:avLst/>
              <a:gdLst/>
              <a:ahLst/>
              <a:cxnLst/>
              <a:rect r="r" b="b" t="t" l="l"/>
              <a:pathLst>
                <a:path h="502326" w="4773168">
                  <a:moveTo>
                    <a:pt x="0" y="0"/>
                  </a:moveTo>
                  <a:lnTo>
                    <a:pt x="4773168" y="0"/>
                  </a:lnTo>
                  <a:lnTo>
                    <a:pt x="4773168" y="502326"/>
                  </a:lnTo>
                  <a:lnTo>
                    <a:pt x="0" y="502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22" r="0" b="-12337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4773168" cy="492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ResNet18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84648" y="5705856"/>
            <a:ext cx="1913382" cy="388320"/>
            <a:chOff x="0" y="0"/>
            <a:chExt cx="2551176" cy="5177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51176" cy="517759"/>
            </a:xfrm>
            <a:custGeom>
              <a:avLst/>
              <a:gdLst/>
              <a:ahLst/>
              <a:cxnLst/>
              <a:rect r="r" b="b" t="t" l="l"/>
              <a:pathLst>
                <a:path h="517759" w="2551176">
                  <a:moveTo>
                    <a:pt x="0" y="0"/>
                  </a:moveTo>
                  <a:lnTo>
                    <a:pt x="2551176" y="0"/>
                  </a:lnTo>
                  <a:lnTo>
                    <a:pt x="2551176" y="517759"/>
                  </a:lnTo>
                  <a:lnTo>
                    <a:pt x="0" y="5177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1" r="0" b="-3309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2551176" cy="50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35"/>
                </a:lnSpc>
              </a:pPr>
              <a:r>
                <a:rPr lang="en-US" sz="177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0.8323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51632" y="1844992"/>
            <a:ext cx="7557135" cy="1384935"/>
            <a:chOff x="0" y="0"/>
            <a:chExt cx="10076180" cy="18465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76180" cy="1846580"/>
            </a:xfrm>
            <a:custGeom>
              <a:avLst/>
              <a:gdLst/>
              <a:ahLst/>
              <a:cxnLst/>
              <a:rect r="r" b="b" t="t" l="l"/>
              <a:pathLst>
                <a:path h="1846580" w="1007618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9928479" y="0"/>
                  </a:lnTo>
                  <a:cubicBezTo>
                    <a:pt x="10010013" y="0"/>
                    <a:pt x="10076180" y="66167"/>
                    <a:pt x="10076180" y="147701"/>
                  </a:cubicBezTo>
                  <a:lnTo>
                    <a:pt x="10076180" y="1698879"/>
                  </a:lnTo>
                  <a:cubicBezTo>
                    <a:pt x="10076180" y="1780413"/>
                    <a:pt x="10010013" y="1846580"/>
                    <a:pt x="9928479" y="1846580"/>
                  </a:cubicBezTo>
                  <a:lnTo>
                    <a:pt x="147701" y="1846580"/>
                  </a:lnTo>
                  <a:cubicBezTo>
                    <a:pt x="66167" y="1846580"/>
                    <a:pt x="0" y="1780413"/>
                    <a:pt x="0" y="1698879"/>
                  </a:cubicBezTo>
                  <a:close/>
                </a:path>
              </a:pathLst>
            </a:custGeom>
            <a:solidFill>
              <a:srgbClr val="F2F7FB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450324" y="1988820"/>
            <a:ext cx="7159752" cy="1316044"/>
            <a:chOff x="0" y="0"/>
            <a:chExt cx="9546336" cy="17547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46336" cy="1754725"/>
            </a:xfrm>
            <a:custGeom>
              <a:avLst/>
              <a:gdLst/>
              <a:ahLst/>
              <a:cxnLst/>
              <a:rect r="r" b="b" t="t" l="l"/>
              <a:pathLst>
                <a:path h="1754725" w="9546336">
                  <a:moveTo>
                    <a:pt x="0" y="0"/>
                  </a:moveTo>
                  <a:lnTo>
                    <a:pt x="9546336" y="0"/>
                  </a:lnTo>
                  <a:lnTo>
                    <a:pt x="9546336" y="1754725"/>
                  </a:lnTo>
                  <a:lnTo>
                    <a:pt x="0" y="175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274" r="0" b="-4873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9546336" cy="175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9"/>
                </a:lnSpc>
              </a:pPr>
              <a:r>
                <a:rPr lang="en-US" sz="1974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Pillar B: The model works by turning CNN feature positions into graph nodes, passing messages between 4-neighbor patches, then pooling node features for classification.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251632" y="3765233"/>
            <a:ext cx="7557135" cy="1284391"/>
            <a:chOff x="0" y="0"/>
            <a:chExt cx="10076180" cy="171252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76180" cy="1712522"/>
            </a:xfrm>
            <a:custGeom>
              <a:avLst/>
              <a:gdLst/>
              <a:ahLst/>
              <a:cxnLst/>
              <a:rect r="r" b="b" t="t" l="l"/>
              <a:pathLst>
                <a:path h="1712522" w="10076180">
                  <a:moveTo>
                    <a:pt x="0" y="190353"/>
                  </a:moveTo>
                  <a:cubicBezTo>
                    <a:pt x="0" y="85235"/>
                    <a:pt x="66421" y="0"/>
                    <a:pt x="148336" y="0"/>
                  </a:cubicBezTo>
                  <a:lnTo>
                    <a:pt x="9927844" y="0"/>
                  </a:lnTo>
                  <a:cubicBezTo>
                    <a:pt x="10009759" y="0"/>
                    <a:pt x="10076180" y="85235"/>
                    <a:pt x="10076180" y="190353"/>
                  </a:cubicBezTo>
                  <a:lnTo>
                    <a:pt x="10076180" y="1522169"/>
                  </a:lnTo>
                  <a:cubicBezTo>
                    <a:pt x="10076180" y="1627287"/>
                    <a:pt x="10009759" y="1712522"/>
                    <a:pt x="9927844" y="1712522"/>
                  </a:cubicBezTo>
                  <a:lnTo>
                    <a:pt x="148336" y="1712522"/>
                  </a:lnTo>
                  <a:cubicBezTo>
                    <a:pt x="66421" y="1712522"/>
                    <a:pt x="0" y="1627287"/>
                    <a:pt x="0" y="1522169"/>
                  </a:cubicBezTo>
                  <a:close/>
                </a:path>
              </a:pathLst>
            </a:custGeom>
            <a:solidFill>
              <a:srgbClr val="F0F7F3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450324" y="3909060"/>
            <a:ext cx="7159752" cy="1118451"/>
            <a:chOff x="0" y="0"/>
            <a:chExt cx="9546336" cy="149126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46336" cy="1491267"/>
            </a:xfrm>
            <a:custGeom>
              <a:avLst/>
              <a:gdLst/>
              <a:ahLst/>
              <a:cxnLst/>
              <a:rect r="r" b="b" t="t" l="l"/>
              <a:pathLst>
                <a:path h="1491267" w="9546336">
                  <a:moveTo>
                    <a:pt x="0" y="0"/>
                  </a:moveTo>
                  <a:lnTo>
                    <a:pt x="9546336" y="0"/>
                  </a:lnTo>
                  <a:lnTo>
                    <a:pt x="9546336" y="1491267"/>
                  </a:lnTo>
                  <a:lnTo>
                    <a:pt x="0" y="1491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622" r="0" b="-5784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546336" cy="1491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79"/>
                </a:lnSpc>
              </a:pPr>
              <a:r>
                <a:rPr lang="en-US" sz="2149">
                  <a:solidFill>
                    <a:srgbClr val="4B8B55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What actually happened: graph message passing improved the graph-off model, but did not outperform ResNet18.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251632" y="5261249"/>
            <a:ext cx="7557135" cy="1353838"/>
            <a:chOff x="0" y="0"/>
            <a:chExt cx="10076180" cy="180511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076180" cy="1805117"/>
            </a:xfrm>
            <a:custGeom>
              <a:avLst/>
              <a:gdLst/>
              <a:ahLst/>
              <a:cxnLst/>
              <a:rect r="r" b="b" t="t" l="l"/>
              <a:pathLst>
                <a:path h="1805117" w="10076180">
                  <a:moveTo>
                    <a:pt x="0" y="200645"/>
                  </a:moveTo>
                  <a:cubicBezTo>
                    <a:pt x="0" y="89844"/>
                    <a:pt x="66421" y="0"/>
                    <a:pt x="148336" y="0"/>
                  </a:cubicBezTo>
                  <a:lnTo>
                    <a:pt x="9927844" y="0"/>
                  </a:lnTo>
                  <a:cubicBezTo>
                    <a:pt x="10009759" y="0"/>
                    <a:pt x="10076180" y="89844"/>
                    <a:pt x="10076180" y="200645"/>
                  </a:cubicBezTo>
                  <a:lnTo>
                    <a:pt x="10076180" y="1604472"/>
                  </a:lnTo>
                  <a:cubicBezTo>
                    <a:pt x="10076180" y="1715274"/>
                    <a:pt x="10009759" y="1805117"/>
                    <a:pt x="9927844" y="1805117"/>
                  </a:cubicBezTo>
                  <a:lnTo>
                    <a:pt x="148336" y="1805117"/>
                  </a:lnTo>
                  <a:cubicBezTo>
                    <a:pt x="66421" y="1805117"/>
                    <a:pt x="0" y="1715274"/>
                    <a:pt x="0" y="1604472"/>
                  </a:cubicBezTo>
                  <a:close/>
                </a:path>
              </a:pathLst>
            </a:custGeom>
            <a:solidFill>
              <a:srgbClr val="F8F4EE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450324" y="5397246"/>
            <a:ext cx="7159752" cy="1217840"/>
            <a:chOff x="0" y="0"/>
            <a:chExt cx="9546336" cy="162378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46336" cy="1623787"/>
            </a:xfrm>
            <a:custGeom>
              <a:avLst/>
              <a:gdLst/>
              <a:ahLst/>
              <a:cxnLst/>
              <a:rect r="r" b="b" t="t" l="l"/>
              <a:pathLst>
                <a:path h="1623787" w="9546336">
                  <a:moveTo>
                    <a:pt x="0" y="0"/>
                  </a:moveTo>
                  <a:lnTo>
                    <a:pt x="9546336" y="0"/>
                  </a:lnTo>
                  <a:lnTo>
                    <a:pt x="9546336" y="1623787"/>
                  </a:lnTo>
                  <a:lnTo>
                    <a:pt x="0" y="16237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4" r="0" b="-4496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9546336" cy="1623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Why this matters: the project explains both success and limitation instead of forcing an unsupported win.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500188" y="7878128"/>
            <a:ext cx="15241905" cy="867537"/>
            <a:chOff x="0" y="0"/>
            <a:chExt cx="20322540" cy="115671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322539" cy="1156716"/>
            </a:xfrm>
            <a:custGeom>
              <a:avLst/>
              <a:gdLst/>
              <a:ahLst/>
              <a:cxnLst/>
              <a:rect r="r" b="b" t="t" l="l"/>
              <a:pathLst>
                <a:path h="1156716" w="20322539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20135977" y="0"/>
                  </a:lnTo>
                  <a:cubicBezTo>
                    <a:pt x="20238974" y="0"/>
                    <a:pt x="20322539" y="83566"/>
                    <a:pt x="20322539" y="186563"/>
                  </a:cubicBezTo>
                  <a:lnTo>
                    <a:pt x="20322539" y="970153"/>
                  </a:lnTo>
                  <a:cubicBezTo>
                    <a:pt x="20322539" y="1073150"/>
                    <a:pt x="20238974" y="1156716"/>
                    <a:pt x="20135977" y="1156716"/>
                  </a:cubicBezTo>
                  <a:lnTo>
                    <a:pt x="186563" y="1156716"/>
                  </a:lnTo>
                  <a:cubicBezTo>
                    <a:pt x="83566" y="1156716"/>
                    <a:pt x="0" y="1073150"/>
                    <a:pt x="0" y="970153"/>
                  </a:cubicBezTo>
                  <a:close/>
                </a:path>
              </a:pathLst>
            </a:custGeom>
            <a:solidFill>
              <a:srgbClr val="0E2A47"/>
            </a:solidFill>
            <a:ln w="17145" cap="sq">
              <a:solidFill>
                <a:srgbClr val="0E2A47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673352" y="8023860"/>
            <a:ext cx="14895576" cy="630936"/>
            <a:chOff x="0" y="0"/>
            <a:chExt cx="19860768" cy="8412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860768" cy="841248"/>
            </a:xfrm>
            <a:custGeom>
              <a:avLst/>
              <a:gdLst/>
              <a:ahLst/>
              <a:cxnLst/>
              <a:rect r="r" b="b" t="t" l="l"/>
              <a:pathLst>
                <a:path h="841248" w="19860768">
                  <a:moveTo>
                    <a:pt x="0" y="0"/>
                  </a:moveTo>
                  <a:lnTo>
                    <a:pt x="19860768" y="0"/>
                  </a:lnTo>
                  <a:lnTo>
                    <a:pt x="1986076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0016" r="0" b="-41001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986076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Evidence-based final story: improved GCN helped, but ResNet18 stayed strongest.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>
            <a:off x="748667" y="9705229"/>
            <a:ext cx="16060101" cy="0"/>
          </a:xfrm>
          <a:prstGeom prst="line">
            <a:avLst/>
          </a:prstGeom>
          <a:ln cap="rnd" w="9525">
            <a:solidFill>
              <a:srgbClr val="D7DE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17338522" y="9419423"/>
            <a:ext cx="471488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83642"/>
            <a:chOff x="0" y="0"/>
            <a:chExt cx="24408790" cy="244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244856"/>
            </a:xfrm>
            <a:custGeom>
              <a:avLst/>
              <a:gdLst/>
              <a:ahLst/>
              <a:cxnLst/>
              <a:rect r="r" b="b" t="t" l="l"/>
              <a:pathLst>
                <a:path h="244856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C6591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452628"/>
            <a:ext cx="14813280" cy="941501"/>
            <a:chOff x="0" y="0"/>
            <a:chExt cx="19751040" cy="12553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751039" cy="1255335"/>
            </a:xfrm>
            <a:custGeom>
              <a:avLst/>
              <a:gdLst/>
              <a:ahLst/>
              <a:cxnLst/>
              <a:rect r="r" b="b" t="t" l="l"/>
              <a:pathLst>
                <a:path h="1255335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255335"/>
                  </a:lnTo>
                  <a:lnTo>
                    <a:pt x="0" y="1255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5978" r="0" b="-23716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751040" cy="1255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581798"/>
            <a:ext cx="4389120" cy="581113"/>
            <a:chOff x="0" y="0"/>
            <a:chExt cx="5852160" cy="7748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2160" cy="774818"/>
            </a:xfrm>
            <a:custGeom>
              <a:avLst/>
              <a:gdLst/>
              <a:ahLst/>
              <a:cxnLst/>
              <a:rect r="r" b="b" t="t" l="l"/>
              <a:pathLst>
                <a:path h="77481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74818"/>
                  </a:lnTo>
                  <a:lnTo>
                    <a:pt x="0" y="7748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665" r="0" b="-7667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852160" cy="7748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79"/>
                </a:lnSpc>
              </a:pPr>
              <a:r>
                <a:rPr lang="en-US" sz="26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Main result progression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5868" y="2350580"/>
            <a:ext cx="3103245" cy="1251585"/>
            <a:chOff x="0" y="0"/>
            <a:chExt cx="4137660" cy="16687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37660" cy="1668780"/>
            </a:xfrm>
            <a:custGeom>
              <a:avLst/>
              <a:gdLst/>
              <a:ahLst/>
              <a:cxnLst/>
              <a:rect r="r" b="b" t="t" l="l"/>
              <a:pathLst>
                <a:path h="1668780" w="413766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3952240" y="0"/>
                  </a:lnTo>
                  <a:cubicBezTo>
                    <a:pt x="4054602" y="0"/>
                    <a:pt x="4137660" y="83058"/>
                    <a:pt x="4137660" y="185420"/>
                  </a:cubicBezTo>
                  <a:lnTo>
                    <a:pt x="4137660" y="1483360"/>
                  </a:lnTo>
                  <a:cubicBezTo>
                    <a:pt x="4137660" y="1585722"/>
                    <a:pt x="4054602" y="1668780"/>
                    <a:pt x="3952240" y="1668780"/>
                  </a:cubicBezTo>
                  <a:lnTo>
                    <a:pt x="185420" y="1668780"/>
                  </a:lnTo>
                  <a:cubicBezTo>
                    <a:pt x="83058" y="1668780"/>
                    <a:pt x="0" y="1585722"/>
                    <a:pt x="0" y="1483360"/>
                  </a:cubicBezTo>
                  <a:close/>
                </a:path>
              </a:pathLst>
            </a:custGeom>
            <a:solidFill>
              <a:srgbClr val="F8F4EE"/>
            </a:solidFill>
            <a:ln w="17145" cap="sq">
              <a:solidFill>
                <a:srgbClr val="C6591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99032" y="2496312"/>
            <a:ext cx="2756916" cy="1014984"/>
            <a:chOff x="0" y="0"/>
            <a:chExt cx="3675888" cy="13533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75888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75888">
                  <a:moveTo>
                    <a:pt x="0" y="0"/>
                  </a:moveTo>
                  <a:lnTo>
                    <a:pt x="3675888" y="0"/>
                  </a:lnTo>
                  <a:lnTo>
                    <a:pt x="3675888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5" r="0" b="-29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675888" cy="135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First PatchGCN</a:t>
              </a:r>
            </a:p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Macro-F1 0.3771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76860">
            <a:off x="4581373" y="2938272"/>
            <a:ext cx="1192825" cy="0"/>
          </a:xfrm>
          <a:prstGeom prst="line">
            <a:avLst/>
          </a:prstGeom>
          <a:ln cap="rnd" w="76200">
            <a:solidFill>
              <a:srgbClr val="C6591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5957888" y="2350580"/>
            <a:ext cx="3240405" cy="1251585"/>
            <a:chOff x="0" y="0"/>
            <a:chExt cx="4320540" cy="16687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20540" cy="1668780"/>
            </a:xfrm>
            <a:custGeom>
              <a:avLst/>
              <a:gdLst/>
              <a:ahLst/>
              <a:cxnLst/>
              <a:rect r="r" b="b" t="t" l="l"/>
              <a:pathLst>
                <a:path h="1668780" w="432054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4135120" y="0"/>
                  </a:lnTo>
                  <a:cubicBezTo>
                    <a:pt x="4237482" y="0"/>
                    <a:pt x="4320540" y="83058"/>
                    <a:pt x="4320540" y="185420"/>
                  </a:cubicBezTo>
                  <a:lnTo>
                    <a:pt x="4320540" y="1483360"/>
                  </a:lnTo>
                  <a:cubicBezTo>
                    <a:pt x="4320540" y="1585722"/>
                    <a:pt x="4237482" y="1668780"/>
                    <a:pt x="4135120" y="1668780"/>
                  </a:cubicBezTo>
                  <a:lnTo>
                    <a:pt x="185420" y="1668780"/>
                  </a:lnTo>
                  <a:cubicBezTo>
                    <a:pt x="83058" y="1668780"/>
                    <a:pt x="0" y="1585722"/>
                    <a:pt x="0" y="1483360"/>
                  </a:cubicBezTo>
                  <a:close/>
                </a:path>
              </a:pathLst>
            </a:custGeom>
            <a:solidFill>
              <a:srgbClr val="F0F7F3"/>
            </a:solidFill>
            <a:ln w="17145" cap="sq">
              <a:solidFill>
                <a:srgbClr val="4B8B5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131052" y="2496312"/>
            <a:ext cx="2894076" cy="1014984"/>
            <a:chOff x="0" y="0"/>
            <a:chExt cx="3858768" cy="13533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58768" cy="1353312"/>
            </a:xfrm>
            <a:custGeom>
              <a:avLst/>
              <a:gdLst/>
              <a:ahLst/>
              <a:cxnLst/>
              <a:rect r="r" b="b" t="t" l="l"/>
              <a:pathLst>
                <a:path h="1353312" w="3858768">
                  <a:moveTo>
                    <a:pt x="0" y="0"/>
                  </a:moveTo>
                  <a:lnTo>
                    <a:pt x="3858768" y="0"/>
                  </a:lnTo>
                  <a:lnTo>
                    <a:pt x="3858768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8" r="0" b="-555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858768" cy="135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CNN-GCN</a:t>
              </a:r>
            </a:p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Macro-F1 0.7857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76860">
            <a:off x="9450553" y="2938272"/>
            <a:ext cx="1192825" cy="0"/>
          </a:xfrm>
          <a:prstGeom prst="line">
            <a:avLst/>
          </a:prstGeom>
          <a:ln cap="rnd" w="76200">
            <a:solidFill>
              <a:srgbClr val="64707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10827068" y="2350580"/>
            <a:ext cx="3103245" cy="1251585"/>
            <a:chOff x="0" y="0"/>
            <a:chExt cx="4137660" cy="16687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37660" cy="1668780"/>
            </a:xfrm>
            <a:custGeom>
              <a:avLst/>
              <a:gdLst/>
              <a:ahLst/>
              <a:cxnLst/>
              <a:rect r="r" b="b" t="t" l="l"/>
              <a:pathLst>
                <a:path h="1668780" w="4137660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3952240" y="0"/>
                  </a:lnTo>
                  <a:cubicBezTo>
                    <a:pt x="4054602" y="0"/>
                    <a:pt x="4137660" y="83058"/>
                    <a:pt x="4137660" y="185420"/>
                  </a:cubicBezTo>
                  <a:lnTo>
                    <a:pt x="4137660" y="1483360"/>
                  </a:lnTo>
                  <a:cubicBezTo>
                    <a:pt x="4137660" y="1585722"/>
                    <a:pt x="4054602" y="1668780"/>
                    <a:pt x="3952240" y="1668780"/>
                  </a:cubicBezTo>
                  <a:lnTo>
                    <a:pt x="185420" y="1668780"/>
                  </a:lnTo>
                  <a:cubicBezTo>
                    <a:pt x="83058" y="1668780"/>
                    <a:pt x="0" y="1585722"/>
                    <a:pt x="0" y="1483360"/>
                  </a:cubicBezTo>
                  <a:close/>
                </a:path>
              </a:pathLst>
            </a:custGeom>
            <a:solidFill>
              <a:srgbClr val="EEF4F8"/>
            </a:solidFill>
            <a:ln w="17145" cap="sq">
              <a:solidFill>
                <a:srgbClr val="1F4E7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000232" y="2496312"/>
            <a:ext cx="2756916" cy="1014984"/>
            <a:chOff x="0" y="0"/>
            <a:chExt cx="3675888" cy="13533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75888" cy="1353312"/>
            </a:xfrm>
            <a:custGeom>
              <a:avLst/>
              <a:gdLst/>
              <a:ahLst/>
              <a:cxnLst/>
              <a:rect r="r" b="b" t="t" l="l"/>
              <a:pathLst>
                <a:path h="1353312" w="3675888">
                  <a:moveTo>
                    <a:pt x="0" y="0"/>
                  </a:moveTo>
                  <a:lnTo>
                    <a:pt x="3675888" y="0"/>
                  </a:lnTo>
                  <a:lnTo>
                    <a:pt x="3675888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5" r="0" b="-29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675888" cy="1353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ResNet18</a:t>
              </a:r>
            </a:p>
            <a:p>
              <a:pPr algn="ctr">
                <a:lnSpc>
                  <a:spcPts val="2819"/>
                </a:lnSpc>
              </a:pPr>
              <a:r>
                <a:rPr lang="en-US" sz="2349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Macro-F1 0.8323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9192" y="4451032"/>
            <a:ext cx="7900035" cy="1327968"/>
            <a:chOff x="0" y="0"/>
            <a:chExt cx="10533380" cy="17706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33380" cy="1770625"/>
            </a:xfrm>
            <a:custGeom>
              <a:avLst/>
              <a:gdLst/>
              <a:ahLst/>
              <a:cxnLst/>
              <a:rect r="r" b="b" t="t" l="l"/>
              <a:pathLst>
                <a:path h="1770625" w="10533380">
                  <a:moveTo>
                    <a:pt x="0" y="196811"/>
                  </a:moveTo>
                  <a:cubicBezTo>
                    <a:pt x="0" y="88127"/>
                    <a:pt x="66421" y="0"/>
                    <a:pt x="148336" y="0"/>
                  </a:cubicBezTo>
                  <a:lnTo>
                    <a:pt x="10385044" y="0"/>
                  </a:lnTo>
                  <a:cubicBezTo>
                    <a:pt x="10466959" y="0"/>
                    <a:pt x="10533380" y="88127"/>
                    <a:pt x="10533380" y="196811"/>
                  </a:cubicBezTo>
                  <a:lnTo>
                    <a:pt x="10533380" y="1573814"/>
                  </a:lnTo>
                  <a:cubicBezTo>
                    <a:pt x="10533380" y="1682498"/>
                    <a:pt x="10466959" y="1770625"/>
                    <a:pt x="10385044" y="1770625"/>
                  </a:cubicBezTo>
                  <a:lnTo>
                    <a:pt x="148336" y="1770625"/>
                  </a:lnTo>
                  <a:cubicBezTo>
                    <a:pt x="66421" y="1770625"/>
                    <a:pt x="0" y="1682498"/>
                    <a:pt x="0" y="1573814"/>
                  </a:cubicBezTo>
                  <a:close/>
                </a:path>
              </a:pathLst>
            </a:custGeom>
            <a:solidFill>
              <a:srgbClr val="F8F4EE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57884" y="4594860"/>
            <a:ext cx="7502652" cy="1184141"/>
            <a:chOff x="0" y="0"/>
            <a:chExt cx="10003536" cy="15788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03536" cy="1578855"/>
            </a:xfrm>
            <a:custGeom>
              <a:avLst/>
              <a:gdLst/>
              <a:ahLst/>
              <a:cxnLst/>
              <a:rect r="r" b="b" t="t" l="l"/>
              <a:pathLst>
                <a:path h="1578855" w="10003536">
                  <a:moveTo>
                    <a:pt x="0" y="0"/>
                  </a:moveTo>
                  <a:lnTo>
                    <a:pt x="10003536" y="0"/>
                  </a:lnTo>
                  <a:lnTo>
                    <a:pt x="10003536" y="1578855"/>
                  </a:lnTo>
                  <a:lnTo>
                    <a:pt x="0" y="1578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81" r="0" b="-547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0003536" cy="1588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1. Learned CNN node features were the main reason the GCN improved over the first patch-statistics graph.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9192" y="6172489"/>
            <a:ext cx="7900035" cy="1162887"/>
            <a:chOff x="0" y="0"/>
            <a:chExt cx="10533380" cy="15505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533380" cy="1550516"/>
            </a:xfrm>
            <a:custGeom>
              <a:avLst/>
              <a:gdLst/>
              <a:ahLst/>
              <a:cxnLst/>
              <a:rect r="r" b="b" t="t" l="l"/>
              <a:pathLst>
                <a:path h="1550516" w="10533380">
                  <a:moveTo>
                    <a:pt x="0" y="172345"/>
                  </a:moveTo>
                  <a:cubicBezTo>
                    <a:pt x="0" y="77172"/>
                    <a:pt x="66421" y="0"/>
                    <a:pt x="148336" y="0"/>
                  </a:cubicBezTo>
                  <a:lnTo>
                    <a:pt x="10385044" y="0"/>
                  </a:lnTo>
                  <a:cubicBezTo>
                    <a:pt x="10466959" y="0"/>
                    <a:pt x="10533380" y="77172"/>
                    <a:pt x="10533380" y="172345"/>
                  </a:cubicBezTo>
                  <a:lnTo>
                    <a:pt x="10533380" y="1378171"/>
                  </a:lnTo>
                  <a:cubicBezTo>
                    <a:pt x="10533380" y="1473344"/>
                    <a:pt x="10466959" y="1550516"/>
                    <a:pt x="10385044" y="1550516"/>
                  </a:cubicBezTo>
                  <a:lnTo>
                    <a:pt x="148336" y="1550516"/>
                  </a:lnTo>
                  <a:cubicBezTo>
                    <a:pt x="66421" y="1550516"/>
                    <a:pt x="0" y="1473344"/>
                    <a:pt x="0" y="1378171"/>
                  </a:cubicBezTo>
                  <a:close/>
                </a:path>
              </a:pathLst>
            </a:custGeom>
            <a:solidFill>
              <a:srgbClr val="F0F7F3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57884" y="6316317"/>
            <a:ext cx="7502652" cy="841241"/>
            <a:chOff x="0" y="0"/>
            <a:chExt cx="10003536" cy="11216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03536" cy="1121655"/>
            </a:xfrm>
            <a:custGeom>
              <a:avLst/>
              <a:gdLst/>
              <a:ahLst/>
              <a:cxnLst/>
              <a:rect r="r" b="b" t="t" l="l"/>
              <a:pathLst>
                <a:path h="1121655" w="10003536">
                  <a:moveTo>
                    <a:pt x="0" y="0"/>
                  </a:moveTo>
                  <a:lnTo>
                    <a:pt x="10003536" y="0"/>
                  </a:lnTo>
                  <a:lnTo>
                    <a:pt x="10003536" y="1121655"/>
                  </a:lnTo>
                  <a:lnTo>
                    <a:pt x="0" y="11216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756" r="0" b="-11780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0003536" cy="1131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2. The 4-neighbor graph added useful message passing over the graph-off CNN backbone.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88793" y="4451032"/>
            <a:ext cx="7900035" cy="1327968"/>
            <a:chOff x="0" y="0"/>
            <a:chExt cx="10533380" cy="17706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533380" cy="1770625"/>
            </a:xfrm>
            <a:custGeom>
              <a:avLst/>
              <a:gdLst/>
              <a:ahLst/>
              <a:cxnLst/>
              <a:rect r="r" b="b" t="t" l="l"/>
              <a:pathLst>
                <a:path h="1770625" w="10533380">
                  <a:moveTo>
                    <a:pt x="0" y="196811"/>
                  </a:moveTo>
                  <a:cubicBezTo>
                    <a:pt x="0" y="88127"/>
                    <a:pt x="66421" y="0"/>
                    <a:pt x="148336" y="0"/>
                  </a:cubicBezTo>
                  <a:lnTo>
                    <a:pt x="10385044" y="0"/>
                  </a:lnTo>
                  <a:cubicBezTo>
                    <a:pt x="10466959" y="0"/>
                    <a:pt x="10533380" y="88127"/>
                    <a:pt x="10533380" y="196811"/>
                  </a:cubicBezTo>
                  <a:lnTo>
                    <a:pt x="10533380" y="1573814"/>
                  </a:lnTo>
                  <a:cubicBezTo>
                    <a:pt x="10533380" y="1682498"/>
                    <a:pt x="10466959" y="1770625"/>
                    <a:pt x="10385044" y="1770625"/>
                  </a:cubicBezTo>
                  <a:lnTo>
                    <a:pt x="148336" y="1770625"/>
                  </a:lnTo>
                  <a:cubicBezTo>
                    <a:pt x="66421" y="1770625"/>
                    <a:pt x="0" y="1682498"/>
                    <a:pt x="0" y="1573814"/>
                  </a:cubicBezTo>
                  <a:close/>
                </a:path>
              </a:pathLst>
            </a:custGeom>
            <a:solidFill>
              <a:srgbClr val="EEF4F8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587484" y="4594860"/>
            <a:ext cx="7502652" cy="1184141"/>
            <a:chOff x="0" y="0"/>
            <a:chExt cx="10003536" cy="157885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03536" cy="1578855"/>
            </a:xfrm>
            <a:custGeom>
              <a:avLst/>
              <a:gdLst/>
              <a:ahLst/>
              <a:cxnLst/>
              <a:rect r="r" b="b" t="t" l="l"/>
              <a:pathLst>
                <a:path h="1578855" w="10003536">
                  <a:moveTo>
                    <a:pt x="0" y="0"/>
                  </a:moveTo>
                  <a:lnTo>
                    <a:pt x="10003536" y="0"/>
                  </a:lnTo>
                  <a:lnTo>
                    <a:pt x="10003536" y="1578855"/>
                  </a:lnTo>
                  <a:lnTo>
                    <a:pt x="0" y="1578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81" r="0" b="-5473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0003536" cy="1588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3. ResNet18 remained strongest on the fixed test comparison, so we do not claim the GCN is best overall.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88793" y="6172489"/>
            <a:ext cx="7900035" cy="1327968"/>
            <a:chOff x="0" y="0"/>
            <a:chExt cx="10533380" cy="17706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533380" cy="1770625"/>
            </a:xfrm>
            <a:custGeom>
              <a:avLst/>
              <a:gdLst/>
              <a:ahLst/>
              <a:cxnLst/>
              <a:rect r="r" b="b" t="t" l="l"/>
              <a:pathLst>
                <a:path h="1770625" w="10533380">
                  <a:moveTo>
                    <a:pt x="0" y="196811"/>
                  </a:moveTo>
                  <a:cubicBezTo>
                    <a:pt x="0" y="88127"/>
                    <a:pt x="66421" y="0"/>
                    <a:pt x="148336" y="0"/>
                  </a:cubicBezTo>
                  <a:lnTo>
                    <a:pt x="10385044" y="0"/>
                  </a:lnTo>
                  <a:cubicBezTo>
                    <a:pt x="10466959" y="0"/>
                    <a:pt x="10533380" y="88127"/>
                    <a:pt x="10533380" y="196811"/>
                  </a:cubicBezTo>
                  <a:lnTo>
                    <a:pt x="10533380" y="1573814"/>
                  </a:lnTo>
                  <a:cubicBezTo>
                    <a:pt x="10533380" y="1682498"/>
                    <a:pt x="10466959" y="1770625"/>
                    <a:pt x="10385044" y="1770625"/>
                  </a:cubicBezTo>
                  <a:lnTo>
                    <a:pt x="148336" y="1770625"/>
                  </a:lnTo>
                  <a:cubicBezTo>
                    <a:pt x="66421" y="1770625"/>
                    <a:pt x="0" y="1682498"/>
                    <a:pt x="0" y="1573814"/>
                  </a:cubicBezTo>
                  <a:close/>
                </a:path>
              </a:pathLst>
            </a:custGeom>
            <a:solidFill>
              <a:srgbClr val="F2F7FB"/>
            </a:solidFill>
            <a:ln w="13335" cap="sq">
              <a:solidFill>
                <a:srgbClr val="D5DDE7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587484" y="6316317"/>
            <a:ext cx="7671816" cy="1184141"/>
            <a:chOff x="0" y="0"/>
            <a:chExt cx="10229088" cy="15788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29088" cy="1578855"/>
            </a:xfrm>
            <a:custGeom>
              <a:avLst/>
              <a:gdLst/>
              <a:ahLst/>
              <a:cxnLst/>
              <a:rect r="r" b="b" t="t" l="l"/>
              <a:pathLst>
                <a:path h="1578855" w="10229088">
                  <a:moveTo>
                    <a:pt x="0" y="0"/>
                  </a:moveTo>
                  <a:lnTo>
                    <a:pt x="10229088" y="0"/>
                  </a:lnTo>
                  <a:lnTo>
                    <a:pt x="10229088" y="1578855"/>
                  </a:lnTo>
                  <a:lnTo>
                    <a:pt x="0" y="15788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81" r="2205" b="-5473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0229088" cy="1588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29"/>
                </a:lnSpc>
              </a:pPr>
              <a:r>
                <a:rPr lang="en-US" sz="2274">
                  <a:solidFill>
                    <a:srgbClr val="0E2A4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4. XAI helps understand model sensitivity, but byte-image regions are not semantic malware-code regions.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3028" y="8221028"/>
            <a:ext cx="15516225" cy="1037272"/>
            <a:chOff x="0" y="0"/>
            <a:chExt cx="20688300" cy="138303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88300" cy="1383030"/>
            </a:xfrm>
            <a:custGeom>
              <a:avLst/>
              <a:gdLst/>
              <a:ahLst/>
              <a:cxnLst/>
              <a:rect r="r" b="b" t="t" l="l"/>
              <a:pathLst>
                <a:path h="1383030" w="20688300">
                  <a:moveTo>
                    <a:pt x="0" y="223064"/>
                  </a:moveTo>
                  <a:cubicBezTo>
                    <a:pt x="0" y="99916"/>
                    <a:pt x="83566" y="0"/>
                    <a:pt x="186563" y="0"/>
                  </a:cubicBezTo>
                  <a:lnTo>
                    <a:pt x="20501738" y="0"/>
                  </a:lnTo>
                  <a:cubicBezTo>
                    <a:pt x="20604735" y="0"/>
                    <a:pt x="20688300" y="99916"/>
                    <a:pt x="20688300" y="223064"/>
                  </a:cubicBezTo>
                  <a:lnTo>
                    <a:pt x="20688300" y="1159966"/>
                  </a:lnTo>
                  <a:cubicBezTo>
                    <a:pt x="20688300" y="1283114"/>
                    <a:pt x="20604735" y="1383030"/>
                    <a:pt x="20501738" y="1383030"/>
                  </a:cubicBezTo>
                  <a:lnTo>
                    <a:pt x="186563" y="1383030"/>
                  </a:lnTo>
                  <a:cubicBezTo>
                    <a:pt x="83566" y="1383030"/>
                    <a:pt x="0" y="1283114"/>
                    <a:pt x="0" y="1159966"/>
                  </a:cubicBezTo>
                  <a:close/>
                </a:path>
              </a:pathLst>
            </a:custGeom>
            <a:solidFill>
              <a:srgbClr val="0E2A47"/>
            </a:solidFill>
            <a:ln w="17145" cap="sq">
              <a:solidFill>
                <a:srgbClr val="0E2A4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536192" y="8366760"/>
            <a:ext cx="15169896" cy="863366"/>
            <a:chOff x="0" y="0"/>
            <a:chExt cx="20226528" cy="115115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226528" cy="1151154"/>
            </a:xfrm>
            <a:custGeom>
              <a:avLst/>
              <a:gdLst/>
              <a:ahLst/>
              <a:cxnLst/>
              <a:rect r="r" b="b" t="t" l="l"/>
              <a:pathLst>
                <a:path h="1151154" w="20226528">
                  <a:moveTo>
                    <a:pt x="0" y="0"/>
                  </a:moveTo>
                  <a:lnTo>
                    <a:pt x="20226528" y="0"/>
                  </a:lnTo>
                  <a:lnTo>
                    <a:pt x="20226528" y="1151154"/>
                  </a:lnTo>
                  <a:lnTo>
                    <a:pt x="0" y="1151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25" r="0" b="-27890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0226528" cy="1151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83"/>
                </a:lnSpc>
              </a:pPr>
              <a:r>
                <a:rPr lang="en-US" sz="2319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conclusion: the improved GCN is compact and competitive, but the safest evidence-based choice for highest accuracy on MaleBin is still ResNet18.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748667" y="9705229"/>
            <a:ext cx="16053433" cy="45693"/>
          </a:xfrm>
          <a:prstGeom prst="line">
            <a:avLst/>
          </a:prstGeom>
          <a:ln cap="rnd" w="9525">
            <a:solidFill>
              <a:srgbClr val="D7DE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17331775" y="9419423"/>
            <a:ext cx="484981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sz="35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DAHTjvOGMAw</dc:identifier>
  <dcterms:modified xsi:type="dcterms:W3CDTF">2011-08-01T06:04:30Z</dcterms:modified>
  <cp:revision>1</cp:revision>
  <dc:title>Group01_MaleBin_Final_Presentation.pptx</dc:title>
</cp:coreProperties>
</file>